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1" r:id="rId4"/>
    <p:sldId id="272" r:id="rId5"/>
    <p:sldId id="283" r:id="rId6"/>
    <p:sldId id="284" r:id="rId7"/>
    <p:sldId id="285" r:id="rId8"/>
    <p:sldId id="260" r:id="rId9"/>
    <p:sldId id="262" r:id="rId10"/>
    <p:sldId id="274" r:id="rId11"/>
    <p:sldId id="264" r:id="rId12"/>
    <p:sldId id="287" r:id="rId13"/>
    <p:sldId id="288" r:id="rId14"/>
    <p:sldId id="276" r:id="rId15"/>
    <p:sldId id="277" r:id="rId16"/>
    <p:sldId id="278" r:id="rId17"/>
    <p:sldId id="279" r:id="rId18"/>
    <p:sldId id="281" r:id="rId19"/>
    <p:sldId id="289" r:id="rId20"/>
    <p:sldId id="269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37"/>
    <p:restoredTop sz="94715"/>
  </p:normalViewPr>
  <p:slideViewPr>
    <p:cSldViewPr>
      <p:cViewPr varScale="1">
        <p:scale>
          <a:sx n="117" d="100"/>
          <a:sy n="117" d="100"/>
        </p:scale>
        <p:origin x="192" y="2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VIF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Лист1!$B$1:$P$1</c:f>
              <c:strCache>
                <c:ptCount val="15"/>
                <c:pt idx="0">
                  <c:v>openness_z</c:v>
                </c:pt>
                <c:pt idx="1">
                  <c:v>conservation_z</c:v>
                </c:pt>
                <c:pt idx="2">
                  <c:v>self_trans_z</c:v>
                </c:pt>
                <c:pt idx="3">
                  <c:v>self_enh_z</c:v>
                </c:pt>
                <c:pt idx="4">
                  <c:v>netusoft_z</c:v>
                </c:pt>
                <c:pt idx="5">
                  <c:v>log_netustm_z</c:v>
                </c:pt>
                <c:pt idx="6">
                  <c:v>log_nwspol_z</c:v>
                </c:pt>
                <c:pt idx="7">
                  <c:v>agea_z</c:v>
                </c:pt>
                <c:pt idx="8">
                  <c:v>female</c:v>
                </c:pt>
                <c:pt idx="9">
                  <c:v>eduyrs_z</c:v>
                </c:pt>
                <c:pt idx="10">
                  <c:v>hinctnta_z</c:v>
                </c:pt>
                <c:pt idx="11">
                  <c:v>domicil_z</c:v>
                </c:pt>
                <c:pt idx="12">
                  <c:v>gdp_pcap_ppp_z</c:v>
                </c:pt>
                <c:pt idx="13">
                  <c:v>gini_z</c:v>
                </c:pt>
                <c:pt idx="14">
                  <c:v>cpi_z</c:v>
                </c:pt>
              </c:strCache>
            </c:strRef>
          </c:cat>
          <c:val>
            <c:numRef>
              <c:f>Лист1!$B$2:$P$2</c:f>
              <c:numCache>
                <c:formatCode>General</c:formatCode>
                <c:ptCount val="15"/>
                <c:pt idx="0">
                  <c:v>5.016</c:v>
                </c:pt>
                <c:pt idx="1">
                  <c:v>4.7519999999999998</c:v>
                </c:pt>
                <c:pt idx="2">
                  <c:v>5.2060000000000004</c:v>
                </c:pt>
                <c:pt idx="3">
                  <c:v>3.7229999999999999</c:v>
                </c:pt>
                <c:pt idx="4">
                  <c:v>1.768</c:v>
                </c:pt>
                <c:pt idx="5">
                  <c:v>1.133</c:v>
                </c:pt>
                <c:pt idx="6">
                  <c:v>1.0840000000000001</c:v>
                </c:pt>
                <c:pt idx="7">
                  <c:v>1.7529999999999999</c:v>
                </c:pt>
                <c:pt idx="8">
                  <c:v>1.02</c:v>
                </c:pt>
                <c:pt idx="9">
                  <c:v>1.2889999999999999</c:v>
                </c:pt>
                <c:pt idx="10">
                  <c:v>1.196</c:v>
                </c:pt>
                <c:pt idx="11">
                  <c:v>1.036</c:v>
                </c:pt>
                <c:pt idx="12">
                  <c:v>2.8959999999999999</c:v>
                </c:pt>
                <c:pt idx="13">
                  <c:v>1.2090000000000001</c:v>
                </c:pt>
                <c:pt idx="14">
                  <c:v>3.0110000000000001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EA9-614A-8AC9-0FBAF3098B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61113199"/>
        <c:axId val="261210671"/>
      </c:lineChart>
      <c:catAx>
        <c:axId val="2611131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61210671"/>
        <c:crosses val="autoZero"/>
        <c:auto val="1"/>
        <c:lblAlgn val="ctr"/>
        <c:lblOffset val="100"/>
        <c:noMultiLvlLbl val="0"/>
      </c:catAx>
      <c:valAx>
        <c:axId val="2612106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61113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0AE9E3-44AA-2049-9BDC-C9CFF9F2B813}" type="doc">
      <dgm:prSet loTypeId="urn:microsoft.com/office/officeart/2005/8/layout/hierarchy3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81B9C9DE-7466-F940-A6D9-2439B55E7F93}">
      <dgm:prSet/>
      <dgm:spPr/>
      <dgm:t>
        <a:bodyPr/>
        <a:lstStyle/>
        <a:p>
          <a:r>
            <a:rPr lang="ru-RU" dirty="0"/>
            <a:t>ML-подход </a:t>
          </a:r>
        </a:p>
      </dgm:t>
    </dgm:pt>
    <dgm:pt modelId="{044552EE-81CE-2342-BA20-FEBF27C7685A}" type="parTrans" cxnId="{6EE74DA9-93CB-0A47-96BA-93E65AC77533}">
      <dgm:prSet/>
      <dgm:spPr/>
      <dgm:t>
        <a:bodyPr/>
        <a:lstStyle/>
        <a:p>
          <a:endParaRPr lang="ru-RU"/>
        </a:p>
      </dgm:t>
    </dgm:pt>
    <dgm:pt modelId="{5B2BF573-AE5D-F34B-BA2E-DB0E70572C4F}" type="sibTrans" cxnId="{6EE74DA9-93CB-0A47-96BA-93E65AC77533}">
      <dgm:prSet/>
      <dgm:spPr/>
      <dgm:t>
        <a:bodyPr/>
        <a:lstStyle/>
        <a:p>
          <a:endParaRPr lang="ru-RU"/>
        </a:p>
      </dgm:t>
    </dgm:pt>
    <dgm:pt modelId="{AEF1D845-CB86-8D4E-8944-7EF0B7E3840D}">
      <dgm:prSet/>
      <dgm:spPr/>
      <dgm:t>
        <a:bodyPr/>
        <a:lstStyle/>
        <a:p>
          <a:r>
            <a:rPr lang="ru-RU" dirty="0"/>
            <a:t>Многоуровневый  подход</a:t>
          </a:r>
        </a:p>
      </dgm:t>
    </dgm:pt>
    <dgm:pt modelId="{5AB15704-403F-4E45-A453-DA084ACB784A}" type="parTrans" cxnId="{36BFA5D9-FA55-A14C-9608-82599224D324}">
      <dgm:prSet/>
      <dgm:spPr/>
      <dgm:t>
        <a:bodyPr/>
        <a:lstStyle/>
        <a:p>
          <a:endParaRPr lang="ru-RU"/>
        </a:p>
      </dgm:t>
    </dgm:pt>
    <dgm:pt modelId="{DCF282CE-FB74-CB4F-963B-C8C4EA4400E7}" type="sibTrans" cxnId="{36BFA5D9-FA55-A14C-9608-82599224D324}">
      <dgm:prSet/>
      <dgm:spPr/>
      <dgm:t>
        <a:bodyPr/>
        <a:lstStyle/>
        <a:p>
          <a:endParaRPr lang="ru-RU"/>
        </a:p>
      </dgm:t>
    </dgm:pt>
    <dgm:pt modelId="{58945FAA-C207-E645-8C36-CC470F3D322D}">
      <dgm:prSet/>
      <dgm:spPr/>
      <dgm:t>
        <a:bodyPr/>
        <a:lstStyle/>
        <a:p>
          <a:r>
            <a:rPr lang="en-US" dirty="0"/>
            <a:t>Null</a:t>
          </a:r>
          <a:r>
            <a:rPr lang="ru-RU" dirty="0"/>
            <a:t> модель</a:t>
          </a:r>
        </a:p>
      </dgm:t>
    </dgm:pt>
    <dgm:pt modelId="{8043F7D8-CB01-404A-B404-D631F5A76B17}" type="parTrans" cxnId="{714C6635-6D9F-9643-8967-B407661EF41E}">
      <dgm:prSet/>
      <dgm:spPr/>
      <dgm:t>
        <a:bodyPr/>
        <a:lstStyle/>
        <a:p>
          <a:endParaRPr lang="ru-RU"/>
        </a:p>
      </dgm:t>
    </dgm:pt>
    <dgm:pt modelId="{81300D69-20CB-1A42-A4C7-8B65A93B6430}" type="sibTrans" cxnId="{714C6635-6D9F-9643-8967-B407661EF41E}">
      <dgm:prSet/>
      <dgm:spPr/>
      <dgm:t>
        <a:bodyPr/>
        <a:lstStyle/>
        <a:p>
          <a:endParaRPr lang="ru-RU"/>
        </a:p>
      </dgm:t>
    </dgm:pt>
    <dgm:pt modelId="{EA62E9B9-8684-384A-8AEE-678672AE23BD}">
      <dgm:prSet/>
      <dgm:spPr/>
      <dgm:t>
        <a:bodyPr/>
        <a:lstStyle/>
        <a:p>
          <a:r>
            <a:rPr lang="ru-RU" b="0" i="0" u="none" dirty="0"/>
            <a:t>Линейная регрессия</a:t>
          </a:r>
        </a:p>
      </dgm:t>
    </dgm:pt>
    <dgm:pt modelId="{49F42C6D-D8B8-2948-BA30-A01EA0FA841F}" type="parTrans" cxnId="{3CB1BE9B-A922-BB46-ACB4-45B6CF5E5C87}">
      <dgm:prSet/>
      <dgm:spPr/>
      <dgm:t>
        <a:bodyPr/>
        <a:lstStyle/>
        <a:p>
          <a:endParaRPr lang="ru-RU"/>
        </a:p>
      </dgm:t>
    </dgm:pt>
    <dgm:pt modelId="{9C33DB22-E9B7-B04E-AA0C-DF7827603683}" type="sibTrans" cxnId="{3CB1BE9B-A922-BB46-ACB4-45B6CF5E5C87}">
      <dgm:prSet/>
      <dgm:spPr/>
      <dgm:t>
        <a:bodyPr/>
        <a:lstStyle/>
        <a:p>
          <a:endParaRPr lang="ru-RU"/>
        </a:p>
      </dgm:t>
    </dgm:pt>
    <dgm:pt modelId="{42B69194-C116-4542-AB62-974D53384423}">
      <dgm:prSet/>
      <dgm:spPr/>
      <dgm:t>
        <a:bodyPr/>
        <a:lstStyle/>
        <a:p>
          <a:r>
            <a:rPr lang="ru-RU" dirty="0"/>
            <a:t>Гребневая регрессия</a:t>
          </a:r>
        </a:p>
      </dgm:t>
    </dgm:pt>
    <dgm:pt modelId="{2010ECC8-CDDC-B046-8998-A047A5ED51DF}" type="parTrans" cxnId="{513E0728-863F-2343-9551-2DB3B268E945}">
      <dgm:prSet/>
      <dgm:spPr/>
      <dgm:t>
        <a:bodyPr/>
        <a:lstStyle/>
        <a:p>
          <a:endParaRPr lang="ru-RU"/>
        </a:p>
      </dgm:t>
    </dgm:pt>
    <dgm:pt modelId="{2953943F-47BC-CB49-B615-3AE2C67F6953}" type="sibTrans" cxnId="{513E0728-863F-2343-9551-2DB3B268E945}">
      <dgm:prSet/>
      <dgm:spPr/>
      <dgm:t>
        <a:bodyPr/>
        <a:lstStyle/>
        <a:p>
          <a:endParaRPr lang="ru-RU"/>
        </a:p>
      </dgm:t>
    </dgm:pt>
    <dgm:pt modelId="{33ECA1B6-B36C-A347-8D67-172AFA21AD60}">
      <dgm:prSet/>
      <dgm:spPr/>
      <dgm:t>
        <a:bodyPr/>
        <a:lstStyle/>
        <a:p>
          <a:r>
            <a:rPr lang="ru-RU" dirty="0"/>
            <a:t>Регрессия с отбором  признаков</a:t>
          </a:r>
        </a:p>
      </dgm:t>
    </dgm:pt>
    <dgm:pt modelId="{F1E28711-9A0C-0A42-8EA4-A14BBC9E69FC}" type="parTrans" cxnId="{E552A6E2-0535-0D4E-AC06-09166FB9DDEB}">
      <dgm:prSet/>
      <dgm:spPr/>
      <dgm:t>
        <a:bodyPr/>
        <a:lstStyle/>
        <a:p>
          <a:endParaRPr lang="ru-RU"/>
        </a:p>
      </dgm:t>
    </dgm:pt>
    <dgm:pt modelId="{DD255150-9EEE-7846-A89B-18819A861705}" type="sibTrans" cxnId="{E552A6E2-0535-0D4E-AC06-09166FB9DDEB}">
      <dgm:prSet/>
      <dgm:spPr/>
      <dgm:t>
        <a:bodyPr/>
        <a:lstStyle/>
        <a:p>
          <a:endParaRPr lang="ru-RU"/>
        </a:p>
      </dgm:t>
    </dgm:pt>
    <dgm:pt modelId="{8A62E675-62D1-7844-A48F-4EA0690B3122}">
      <dgm:prSet/>
      <dgm:spPr/>
      <dgm:t>
        <a:bodyPr/>
        <a:lstStyle/>
        <a:p>
          <a:r>
            <a:rPr lang="en-US" dirty="0" err="1"/>
            <a:t>XGBoost</a:t>
          </a:r>
          <a:endParaRPr lang="ru-RU" dirty="0"/>
        </a:p>
      </dgm:t>
    </dgm:pt>
    <dgm:pt modelId="{11BF5394-CAF7-144E-9D5E-6556AA74298A}" type="parTrans" cxnId="{0A846797-F63B-4F42-8DA7-499823451ED1}">
      <dgm:prSet/>
      <dgm:spPr/>
      <dgm:t>
        <a:bodyPr/>
        <a:lstStyle/>
        <a:p>
          <a:endParaRPr lang="ru-RU"/>
        </a:p>
      </dgm:t>
    </dgm:pt>
    <dgm:pt modelId="{CE774AE9-1029-154F-8CF4-F513F489269C}" type="sibTrans" cxnId="{0A846797-F63B-4F42-8DA7-499823451ED1}">
      <dgm:prSet/>
      <dgm:spPr/>
      <dgm:t>
        <a:bodyPr/>
        <a:lstStyle/>
        <a:p>
          <a:endParaRPr lang="ru-RU"/>
        </a:p>
      </dgm:t>
    </dgm:pt>
    <dgm:pt modelId="{A52ED109-49B3-2140-AF27-5217222BB111}">
      <dgm:prSet/>
      <dgm:spPr/>
      <dgm:t>
        <a:bodyPr/>
        <a:lstStyle/>
        <a:p>
          <a:r>
            <a:rPr lang="en" b="0" i="0" u="none"/>
            <a:t>Random Forest</a:t>
          </a:r>
          <a:endParaRPr lang="en"/>
        </a:p>
      </dgm:t>
    </dgm:pt>
    <dgm:pt modelId="{1A2A0F2D-A309-494B-AA80-3ED42C4C2618}" type="parTrans" cxnId="{85E7CF28-331E-B149-BD44-AC36C98A56F6}">
      <dgm:prSet/>
      <dgm:spPr/>
      <dgm:t>
        <a:bodyPr/>
        <a:lstStyle/>
        <a:p>
          <a:endParaRPr lang="ru-RU"/>
        </a:p>
      </dgm:t>
    </dgm:pt>
    <dgm:pt modelId="{33A95080-B891-9148-AFD2-4BDCA4DA4878}" type="sibTrans" cxnId="{85E7CF28-331E-B149-BD44-AC36C98A56F6}">
      <dgm:prSet/>
      <dgm:spPr/>
      <dgm:t>
        <a:bodyPr/>
        <a:lstStyle/>
        <a:p>
          <a:endParaRPr lang="ru-RU"/>
        </a:p>
      </dgm:t>
    </dgm:pt>
    <dgm:pt modelId="{B09BE260-B542-CD43-8BD7-EF7102BDF189}">
      <dgm:prSet/>
      <dgm:spPr/>
      <dgm:t>
        <a:bodyPr/>
        <a:lstStyle/>
        <a:p>
          <a:r>
            <a:rPr lang="ru-RU" dirty="0"/>
            <a:t>Модель с инд. признаками</a:t>
          </a:r>
        </a:p>
      </dgm:t>
    </dgm:pt>
    <dgm:pt modelId="{FBF508FF-2675-124E-9245-D8BF827D7460}" type="parTrans" cxnId="{A3A4E664-D057-344E-ADD1-D570A658A5EF}">
      <dgm:prSet/>
      <dgm:spPr/>
      <dgm:t>
        <a:bodyPr/>
        <a:lstStyle/>
        <a:p>
          <a:endParaRPr lang="ru-RU"/>
        </a:p>
      </dgm:t>
    </dgm:pt>
    <dgm:pt modelId="{0A58C057-7DE5-1F41-99B6-289D4E1377B6}" type="sibTrans" cxnId="{A3A4E664-D057-344E-ADD1-D570A658A5EF}">
      <dgm:prSet/>
      <dgm:spPr/>
      <dgm:t>
        <a:bodyPr/>
        <a:lstStyle/>
        <a:p>
          <a:endParaRPr lang="ru-RU"/>
        </a:p>
      </dgm:t>
    </dgm:pt>
    <dgm:pt modelId="{FC2F980C-F60D-0643-8A34-0880B24A2D5D}">
      <dgm:prSet/>
      <dgm:spPr/>
      <dgm:t>
        <a:bodyPr/>
        <a:lstStyle/>
        <a:p>
          <a:r>
            <a:rPr lang="ru-RU" dirty="0"/>
            <a:t>Полная модель</a:t>
          </a:r>
        </a:p>
      </dgm:t>
    </dgm:pt>
    <dgm:pt modelId="{46D7A59F-E9E7-3242-A4C6-CFB59189B99E}" type="parTrans" cxnId="{0FA99FE8-C259-9540-A240-C925CD707FE7}">
      <dgm:prSet/>
      <dgm:spPr/>
      <dgm:t>
        <a:bodyPr/>
        <a:lstStyle/>
        <a:p>
          <a:endParaRPr lang="ru-RU"/>
        </a:p>
      </dgm:t>
    </dgm:pt>
    <dgm:pt modelId="{A9F29F67-4C71-D94B-B4AD-C5313E1F3D1F}" type="sibTrans" cxnId="{0FA99FE8-C259-9540-A240-C925CD707FE7}">
      <dgm:prSet/>
      <dgm:spPr/>
      <dgm:t>
        <a:bodyPr/>
        <a:lstStyle/>
        <a:p>
          <a:endParaRPr lang="ru-RU"/>
        </a:p>
      </dgm:t>
    </dgm:pt>
    <dgm:pt modelId="{C8C2DA34-C4BA-5440-82DC-328DE7C116D7}">
      <dgm:prSet/>
      <dgm:spPr/>
      <dgm:t>
        <a:bodyPr/>
        <a:lstStyle/>
        <a:p>
          <a:r>
            <a:rPr lang="ru-RU" dirty="0"/>
            <a:t>Сопоставление</a:t>
          </a:r>
        </a:p>
      </dgm:t>
    </dgm:pt>
    <dgm:pt modelId="{C535694A-A099-0141-A073-57FB916E3245}" type="parTrans" cxnId="{09507E4F-FBF4-B142-B7F7-219A7CABA118}">
      <dgm:prSet/>
      <dgm:spPr/>
      <dgm:t>
        <a:bodyPr/>
        <a:lstStyle/>
        <a:p>
          <a:endParaRPr lang="ru-RU"/>
        </a:p>
      </dgm:t>
    </dgm:pt>
    <dgm:pt modelId="{90E71900-5D53-9647-A751-EDCA27B8D84C}" type="sibTrans" cxnId="{09507E4F-FBF4-B142-B7F7-219A7CABA118}">
      <dgm:prSet/>
      <dgm:spPr/>
      <dgm:t>
        <a:bodyPr/>
        <a:lstStyle/>
        <a:p>
          <a:endParaRPr lang="ru-RU"/>
        </a:p>
      </dgm:t>
    </dgm:pt>
    <dgm:pt modelId="{4D38B4A8-B245-B44B-905D-07B203D5E20D}" type="pres">
      <dgm:prSet presAssocID="{EA0AE9E3-44AA-2049-9BDC-C9CFF9F2B813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F4B848F-2326-FF4F-9418-C79A46758A98}" type="pres">
      <dgm:prSet presAssocID="{81B9C9DE-7466-F940-A6D9-2439B55E7F93}" presName="root" presStyleCnt="0"/>
      <dgm:spPr/>
    </dgm:pt>
    <dgm:pt modelId="{83425D40-2B3B-8A4A-9C62-3D40054B9C45}" type="pres">
      <dgm:prSet presAssocID="{81B9C9DE-7466-F940-A6D9-2439B55E7F93}" presName="rootComposite" presStyleCnt="0"/>
      <dgm:spPr/>
    </dgm:pt>
    <dgm:pt modelId="{27666A01-9D6C-2844-BFF6-DAC868051375}" type="pres">
      <dgm:prSet presAssocID="{81B9C9DE-7466-F940-A6D9-2439B55E7F93}" presName="rootText" presStyleLbl="node1" presStyleIdx="0" presStyleCnt="3" custScaleX="121317" custLinFactNeighborX="5552" custLinFactNeighborY="10238"/>
      <dgm:spPr/>
    </dgm:pt>
    <dgm:pt modelId="{2F0E27A2-8FD4-6549-BDB0-6326C8C68F2D}" type="pres">
      <dgm:prSet presAssocID="{81B9C9DE-7466-F940-A6D9-2439B55E7F93}" presName="rootConnector" presStyleLbl="node1" presStyleIdx="0" presStyleCnt="3"/>
      <dgm:spPr/>
    </dgm:pt>
    <dgm:pt modelId="{4DD9E7F8-9E19-6246-A49B-C5FBD868BCB1}" type="pres">
      <dgm:prSet presAssocID="{81B9C9DE-7466-F940-A6D9-2439B55E7F93}" presName="childShape" presStyleCnt="0"/>
      <dgm:spPr/>
    </dgm:pt>
    <dgm:pt modelId="{EFCE6367-05C1-6945-9E30-622F8C9EB80B}" type="pres">
      <dgm:prSet presAssocID="{49F42C6D-D8B8-2948-BA30-A01EA0FA841F}" presName="Name13" presStyleLbl="parChTrans1D2" presStyleIdx="0" presStyleCnt="8" custSzX="126407"/>
      <dgm:spPr/>
    </dgm:pt>
    <dgm:pt modelId="{DE69B898-9E93-3042-8545-4DCE496CB4D7}" type="pres">
      <dgm:prSet presAssocID="{EA62E9B9-8684-384A-8AEE-678672AE23BD}" presName="childText" presStyleLbl="bgAcc1" presStyleIdx="0" presStyleCnt="8" custScaleX="142902">
        <dgm:presLayoutVars>
          <dgm:bulletEnabled val="1"/>
        </dgm:presLayoutVars>
      </dgm:prSet>
      <dgm:spPr/>
    </dgm:pt>
    <dgm:pt modelId="{35354CA2-6CCA-4C42-9CAF-4067C86703C5}" type="pres">
      <dgm:prSet presAssocID="{2010ECC8-CDDC-B046-8998-A047A5ED51DF}" presName="Name13" presStyleLbl="parChTrans1D2" presStyleIdx="1" presStyleCnt="8" custSzX="126407"/>
      <dgm:spPr/>
    </dgm:pt>
    <dgm:pt modelId="{6C3E5D9A-94EA-634A-A7A6-3EA87FC60EB3}" type="pres">
      <dgm:prSet presAssocID="{42B69194-C116-4542-AB62-974D53384423}" presName="childText" presStyleLbl="bgAcc1" presStyleIdx="1" presStyleCnt="8" custScaleX="142902">
        <dgm:presLayoutVars>
          <dgm:bulletEnabled val="1"/>
        </dgm:presLayoutVars>
      </dgm:prSet>
      <dgm:spPr/>
    </dgm:pt>
    <dgm:pt modelId="{F04ACFF4-1AB4-9347-853E-5EC93F2695A8}" type="pres">
      <dgm:prSet presAssocID="{F1E28711-9A0C-0A42-8EA4-A14BBC9E69FC}" presName="Name13" presStyleLbl="parChTrans1D2" presStyleIdx="2" presStyleCnt="8" custSzX="126407"/>
      <dgm:spPr/>
    </dgm:pt>
    <dgm:pt modelId="{FBD1883A-BCDB-0440-89B9-672ACD06ECB1}" type="pres">
      <dgm:prSet presAssocID="{33ECA1B6-B36C-A347-8D67-172AFA21AD60}" presName="childText" presStyleLbl="bgAcc1" presStyleIdx="2" presStyleCnt="8" custScaleX="142902">
        <dgm:presLayoutVars>
          <dgm:bulletEnabled val="1"/>
        </dgm:presLayoutVars>
      </dgm:prSet>
      <dgm:spPr/>
    </dgm:pt>
    <dgm:pt modelId="{70260E99-9136-274F-B4BC-AA2341213354}" type="pres">
      <dgm:prSet presAssocID="{11BF5394-CAF7-144E-9D5E-6556AA74298A}" presName="Name13" presStyleLbl="parChTrans1D2" presStyleIdx="3" presStyleCnt="8" custSzX="126407"/>
      <dgm:spPr/>
    </dgm:pt>
    <dgm:pt modelId="{DAE14BE1-82A0-4C49-ABCC-C764B4A4C0D3}" type="pres">
      <dgm:prSet presAssocID="{8A62E675-62D1-7844-A48F-4EA0690B3122}" presName="childText" presStyleLbl="bgAcc1" presStyleIdx="3" presStyleCnt="8" custScaleX="142902">
        <dgm:presLayoutVars>
          <dgm:bulletEnabled val="1"/>
        </dgm:presLayoutVars>
      </dgm:prSet>
      <dgm:spPr/>
    </dgm:pt>
    <dgm:pt modelId="{9E406B2F-02B1-2548-87B1-ABD2E20FF2EF}" type="pres">
      <dgm:prSet presAssocID="{1A2A0F2D-A309-494B-AA80-3ED42C4C2618}" presName="Name13" presStyleLbl="parChTrans1D2" presStyleIdx="4" presStyleCnt="8" custSzX="126407"/>
      <dgm:spPr/>
    </dgm:pt>
    <dgm:pt modelId="{2C86CF7C-FC5A-A540-A4EF-A2EC564488BF}" type="pres">
      <dgm:prSet presAssocID="{A52ED109-49B3-2140-AF27-5217222BB111}" presName="childText" presStyleLbl="bgAcc1" presStyleIdx="4" presStyleCnt="8" custScaleX="142902">
        <dgm:presLayoutVars>
          <dgm:bulletEnabled val="1"/>
        </dgm:presLayoutVars>
      </dgm:prSet>
      <dgm:spPr/>
    </dgm:pt>
    <dgm:pt modelId="{747CDDE5-9AE3-244F-B4AE-9FB43AF2957E}" type="pres">
      <dgm:prSet presAssocID="{AEF1D845-CB86-8D4E-8944-7EF0B7E3840D}" presName="root" presStyleCnt="0"/>
      <dgm:spPr/>
    </dgm:pt>
    <dgm:pt modelId="{04A08E1C-B3FB-FA4E-902B-650878C7B64B}" type="pres">
      <dgm:prSet presAssocID="{AEF1D845-CB86-8D4E-8944-7EF0B7E3840D}" presName="rootComposite" presStyleCnt="0"/>
      <dgm:spPr/>
    </dgm:pt>
    <dgm:pt modelId="{B66514D4-52C8-B543-99D7-2461B82EDFDD}" type="pres">
      <dgm:prSet presAssocID="{AEF1D845-CB86-8D4E-8944-7EF0B7E3840D}" presName="rootText" presStyleLbl="node1" presStyleIdx="1" presStyleCnt="3" custScaleX="133175" custLinFactY="24005" custLinFactNeighborX="16805" custLinFactNeighborY="100000"/>
      <dgm:spPr/>
    </dgm:pt>
    <dgm:pt modelId="{30706095-6F6E-7D41-9A79-047EF744E5D0}" type="pres">
      <dgm:prSet presAssocID="{AEF1D845-CB86-8D4E-8944-7EF0B7E3840D}" presName="rootConnector" presStyleLbl="node1" presStyleIdx="1" presStyleCnt="3"/>
      <dgm:spPr/>
    </dgm:pt>
    <dgm:pt modelId="{EB266DA3-8581-EF4B-B3E8-169E105B8A21}" type="pres">
      <dgm:prSet presAssocID="{AEF1D845-CB86-8D4E-8944-7EF0B7E3840D}" presName="childShape" presStyleCnt="0"/>
      <dgm:spPr/>
    </dgm:pt>
    <dgm:pt modelId="{7268574D-F4AF-DB43-80A3-EDE29933501E}" type="pres">
      <dgm:prSet presAssocID="{8043F7D8-CB01-404A-B404-D631F5A76B17}" presName="Name13" presStyleLbl="parChTrans1D2" presStyleIdx="5" presStyleCnt="8" custSzX="365740"/>
      <dgm:spPr/>
    </dgm:pt>
    <dgm:pt modelId="{C0304FD5-A3B8-DA42-9F3D-097A96796C55}" type="pres">
      <dgm:prSet presAssocID="{58945FAA-C207-E645-8C36-CC470F3D322D}" presName="childText" presStyleLbl="bgAcc1" presStyleIdx="5" presStyleCnt="8" custScaleX="142902" custLinFactY="24005" custLinFactNeighborX="21005" custLinFactNeighborY="100000">
        <dgm:presLayoutVars>
          <dgm:bulletEnabled val="1"/>
        </dgm:presLayoutVars>
      </dgm:prSet>
      <dgm:spPr/>
    </dgm:pt>
    <dgm:pt modelId="{BE12D800-4225-B04F-AF0D-96806026E776}" type="pres">
      <dgm:prSet presAssocID="{FBF508FF-2675-124E-9245-D8BF827D7460}" presName="Name13" presStyleLbl="parChTrans1D2" presStyleIdx="6" presStyleCnt="8" custSzX="365740"/>
      <dgm:spPr/>
    </dgm:pt>
    <dgm:pt modelId="{8DBCC27A-7FD6-6E4F-9A23-76D10ABEC87F}" type="pres">
      <dgm:prSet presAssocID="{B09BE260-B542-CD43-8BD7-EF7102BDF189}" presName="childText" presStyleLbl="bgAcc1" presStyleIdx="6" presStyleCnt="8" custScaleX="142902" custLinFactY="24005" custLinFactNeighborX="21005" custLinFactNeighborY="100000">
        <dgm:presLayoutVars>
          <dgm:bulletEnabled val="1"/>
        </dgm:presLayoutVars>
      </dgm:prSet>
      <dgm:spPr/>
    </dgm:pt>
    <dgm:pt modelId="{050785DA-D28B-6243-A6D0-DF0984DFAD66}" type="pres">
      <dgm:prSet presAssocID="{46D7A59F-E9E7-3242-A4C6-CFB59189B99E}" presName="Name13" presStyleLbl="parChTrans1D2" presStyleIdx="7" presStyleCnt="8" custSzX="365740"/>
      <dgm:spPr/>
    </dgm:pt>
    <dgm:pt modelId="{E17C8F60-0A2E-794B-A4FB-950CCDD9EF81}" type="pres">
      <dgm:prSet presAssocID="{FC2F980C-F60D-0643-8A34-0880B24A2D5D}" presName="childText" presStyleLbl="bgAcc1" presStyleIdx="7" presStyleCnt="8" custScaleX="142902" custLinFactY="24005" custLinFactNeighborX="21005" custLinFactNeighborY="100000">
        <dgm:presLayoutVars>
          <dgm:bulletEnabled val="1"/>
        </dgm:presLayoutVars>
      </dgm:prSet>
      <dgm:spPr/>
    </dgm:pt>
    <dgm:pt modelId="{1040D936-157E-464D-A17D-CA69F0113B82}" type="pres">
      <dgm:prSet presAssocID="{C8C2DA34-C4BA-5440-82DC-328DE7C116D7}" presName="root" presStyleCnt="0"/>
      <dgm:spPr/>
    </dgm:pt>
    <dgm:pt modelId="{CBCC5D54-B465-9A47-956E-282C848E2551}" type="pres">
      <dgm:prSet presAssocID="{C8C2DA34-C4BA-5440-82DC-328DE7C116D7}" presName="rootComposite" presStyleCnt="0"/>
      <dgm:spPr/>
    </dgm:pt>
    <dgm:pt modelId="{63EBF94D-C2CD-684E-8B34-70890B4405A1}" type="pres">
      <dgm:prSet presAssocID="{C8C2DA34-C4BA-5440-82DC-328DE7C116D7}" presName="rootText" presStyleLbl="node1" presStyleIdx="2" presStyleCnt="3" custLinFactY="112500" custLinFactNeighborX="31895" custLinFactNeighborY="200000"/>
      <dgm:spPr/>
    </dgm:pt>
    <dgm:pt modelId="{2C78F39B-4D7A-284F-8BA6-545A5B8C2EC3}" type="pres">
      <dgm:prSet presAssocID="{C8C2DA34-C4BA-5440-82DC-328DE7C116D7}" presName="rootConnector" presStyleLbl="node1" presStyleIdx="2" presStyleCnt="3"/>
      <dgm:spPr/>
    </dgm:pt>
    <dgm:pt modelId="{473798A6-271B-2940-99B7-94D916A1D082}" type="pres">
      <dgm:prSet presAssocID="{C8C2DA34-C4BA-5440-82DC-328DE7C116D7}" presName="childShape" presStyleCnt="0"/>
      <dgm:spPr/>
    </dgm:pt>
  </dgm:ptLst>
  <dgm:cxnLst>
    <dgm:cxn modelId="{0A9F2009-1D76-2843-97A4-A4F6FA8DB198}" type="presOf" srcId="{1A2A0F2D-A309-494B-AA80-3ED42C4C2618}" destId="{9E406B2F-02B1-2548-87B1-ABD2E20FF2EF}" srcOrd="0" destOrd="0" presId="urn:microsoft.com/office/officeart/2005/8/layout/hierarchy3"/>
    <dgm:cxn modelId="{83D84B16-7232-7A45-9047-0CED77203DA7}" type="presOf" srcId="{C8C2DA34-C4BA-5440-82DC-328DE7C116D7}" destId="{63EBF94D-C2CD-684E-8B34-70890B4405A1}" srcOrd="0" destOrd="0" presId="urn:microsoft.com/office/officeart/2005/8/layout/hierarchy3"/>
    <dgm:cxn modelId="{1F744222-BD91-9945-BC03-547D28A36239}" type="presOf" srcId="{FC2F980C-F60D-0643-8A34-0880B24A2D5D}" destId="{E17C8F60-0A2E-794B-A4FB-950CCDD9EF81}" srcOrd="0" destOrd="0" presId="urn:microsoft.com/office/officeart/2005/8/layout/hierarchy3"/>
    <dgm:cxn modelId="{513E0728-863F-2343-9551-2DB3B268E945}" srcId="{81B9C9DE-7466-F940-A6D9-2439B55E7F93}" destId="{42B69194-C116-4542-AB62-974D53384423}" srcOrd="1" destOrd="0" parTransId="{2010ECC8-CDDC-B046-8998-A047A5ED51DF}" sibTransId="{2953943F-47BC-CB49-B615-3AE2C67F6953}"/>
    <dgm:cxn modelId="{85E7CF28-331E-B149-BD44-AC36C98A56F6}" srcId="{81B9C9DE-7466-F940-A6D9-2439B55E7F93}" destId="{A52ED109-49B3-2140-AF27-5217222BB111}" srcOrd="4" destOrd="0" parTransId="{1A2A0F2D-A309-494B-AA80-3ED42C4C2618}" sibTransId="{33A95080-B891-9148-AFD2-4BDCA4DA4878}"/>
    <dgm:cxn modelId="{7866812B-1434-B241-8174-6D27E29BCDDF}" type="presOf" srcId="{8043F7D8-CB01-404A-B404-D631F5A76B17}" destId="{7268574D-F4AF-DB43-80A3-EDE29933501E}" srcOrd="0" destOrd="0" presId="urn:microsoft.com/office/officeart/2005/8/layout/hierarchy3"/>
    <dgm:cxn modelId="{AF1FF830-6E96-3047-BFBE-22D9F2BA2433}" type="presOf" srcId="{AEF1D845-CB86-8D4E-8944-7EF0B7E3840D}" destId="{30706095-6F6E-7D41-9A79-047EF744E5D0}" srcOrd="1" destOrd="0" presId="urn:microsoft.com/office/officeart/2005/8/layout/hierarchy3"/>
    <dgm:cxn modelId="{43F69E31-C285-AD40-A7F6-319EC8A93946}" type="presOf" srcId="{49F42C6D-D8B8-2948-BA30-A01EA0FA841F}" destId="{EFCE6367-05C1-6945-9E30-622F8C9EB80B}" srcOrd="0" destOrd="0" presId="urn:microsoft.com/office/officeart/2005/8/layout/hierarchy3"/>
    <dgm:cxn modelId="{714C6635-6D9F-9643-8967-B407661EF41E}" srcId="{AEF1D845-CB86-8D4E-8944-7EF0B7E3840D}" destId="{58945FAA-C207-E645-8C36-CC470F3D322D}" srcOrd="0" destOrd="0" parTransId="{8043F7D8-CB01-404A-B404-D631F5A76B17}" sibTransId="{81300D69-20CB-1A42-A4C7-8B65A93B6430}"/>
    <dgm:cxn modelId="{D7508335-0457-6D48-8B06-4676CF6BED4F}" type="presOf" srcId="{F1E28711-9A0C-0A42-8EA4-A14BBC9E69FC}" destId="{F04ACFF4-1AB4-9347-853E-5EC93F2695A8}" srcOrd="0" destOrd="0" presId="urn:microsoft.com/office/officeart/2005/8/layout/hierarchy3"/>
    <dgm:cxn modelId="{6A083A36-97C4-0540-9C8F-8AF3A6AD33D1}" type="presOf" srcId="{A52ED109-49B3-2140-AF27-5217222BB111}" destId="{2C86CF7C-FC5A-A540-A4EF-A2EC564488BF}" srcOrd="0" destOrd="0" presId="urn:microsoft.com/office/officeart/2005/8/layout/hierarchy3"/>
    <dgm:cxn modelId="{68752939-8982-8C43-BB39-35AC92624C46}" type="presOf" srcId="{81B9C9DE-7466-F940-A6D9-2439B55E7F93}" destId="{2F0E27A2-8FD4-6549-BDB0-6326C8C68F2D}" srcOrd="1" destOrd="0" presId="urn:microsoft.com/office/officeart/2005/8/layout/hierarchy3"/>
    <dgm:cxn modelId="{E90F3F3F-BAD7-EB40-9DD6-97D53F92116A}" type="presOf" srcId="{FBF508FF-2675-124E-9245-D8BF827D7460}" destId="{BE12D800-4225-B04F-AF0D-96806026E776}" srcOrd="0" destOrd="0" presId="urn:microsoft.com/office/officeart/2005/8/layout/hierarchy3"/>
    <dgm:cxn modelId="{5262DB3F-AB03-6444-AC76-9AEFA0861D92}" type="presOf" srcId="{42B69194-C116-4542-AB62-974D53384423}" destId="{6C3E5D9A-94EA-634A-A7A6-3EA87FC60EB3}" srcOrd="0" destOrd="0" presId="urn:microsoft.com/office/officeart/2005/8/layout/hierarchy3"/>
    <dgm:cxn modelId="{EC5D194C-4F24-5748-9EB2-606AC1283A52}" type="presOf" srcId="{EA0AE9E3-44AA-2049-9BDC-C9CFF9F2B813}" destId="{4D38B4A8-B245-B44B-905D-07B203D5E20D}" srcOrd="0" destOrd="0" presId="urn:microsoft.com/office/officeart/2005/8/layout/hierarchy3"/>
    <dgm:cxn modelId="{09507E4F-FBF4-B142-B7F7-219A7CABA118}" srcId="{EA0AE9E3-44AA-2049-9BDC-C9CFF9F2B813}" destId="{C8C2DA34-C4BA-5440-82DC-328DE7C116D7}" srcOrd="2" destOrd="0" parTransId="{C535694A-A099-0141-A073-57FB916E3245}" sibTransId="{90E71900-5D53-9647-A751-EDCA27B8D84C}"/>
    <dgm:cxn modelId="{F1892056-94E2-7C4D-823B-1EB54636200C}" type="presOf" srcId="{81B9C9DE-7466-F940-A6D9-2439B55E7F93}" destId="{27666A01-9D6C-2844-BFF6-DAC868051375}" srcOrd="0" destOrd="0" presId="urn:microsoft.com/office/officeart/2005/8/layout/hierarchy3"/>
    <dgm:cxn modelId="{D2791759-214E-3B47-B3E6-61ED8FF8C02E}" type="presOf" srcId="{8A62E675-62D1-7844-A48F-4EA0690B3122}" destId="{DAE14BE1-82A0-4C49-ABCC-C764B4A4C0D3}" srcOrd="0" destOrd="0" presId="urn:microsoft.com/office/officeart/2005/8/layout/hierarchy3"/>
    <dgm:cxn modelId="{6E94C35C-283C-0247-8FBA-11369A7242BD}" type="presOf" srcId="{46D7A59F-E9E7-3242-A4C6-CFB59189B99E}" destId="{050785DA-D28B-6243-A6D0-DF0984DFAD66}" srcOrd="0" destOrd="0" presId="urn:microsoft.com/office/officeart/2005/8/layout/hierarchy3"/>
    <dgm:cxn modelId="{E6E1DE5F-8A21-6B41-8C1C-35B4D4B01CD2}" type="presOf" srcId="{11BF5394-CAF7-144E-9D5E-6556AA74298A}" destId="{70260E99-9136-274F-B4BC-AA2341213354}" srcOrd="0" destOrd="0" presId="urn:microsoft.com/office/officeart/2005/8/layout/hierarchy3"/>
    <dgm:cxn modelId="{A3A4E664-D057-344E-ADD1-D570A658A5EF}" srcId="{AEF1D845-CB86-8D4E-8944-7EF0B7E3840D}" destId="{B09BE260-B542-CD43-8BD7-EF7102BDF189}" srcOrd="1" destOrd="0" parTransId="{FBF508FF-2675-124E-9245-D8BF827D7460}" sibTransId="{0A58C057-7DE5-1F41-99B6-289D4E1377B6}"/>
    <dgm:cxn modelId="{3947A48F-2466-8C49-8FE5-292AB257580B}" type="presOf" srcId="{58945FAA-C207-E645-8C36-CC470F3D322D}" destId="{C0304FD5-A3B8-DA42-9F3D-097A96796C55}" srcOrd="0" destOrd="0" presId="urn:microsoft.com/office/officeart/2005/8/layout/hierarchy3"/>
    <dgm:cxn modelId="{0A846797-F63B-4F42-8DA7-499823451ED1}" srcId="{81B9C9DE-7466-F940-A6D9-2439B55E7F93}" destId="{8A62E675-62D1-7844-A48F-4EA0690B3122}" srcOrd="3" destOrd="0" parTransId="{11BF5394-CAF7-144E-9D5E-6556AA74298A}" sibTransId="{CE774AE9-1029-154F-8CF4-F513F489269C}"/>
    <dgm:cxn modelId="{3CB1BE9B-A922-BB46-ACB4-45B6CF5E5C87}" srcId="{81B9C9DE-7466-F940-A6D9-2439B55E7F93}" destId="{EA62E9B9-8684-384A-8AEE-678672AE23BD}" srcOrd="0" destOrd="0" parTransId="{49F42C6D-D8B8-2948-BA30-A01EA0FA841F}" sibTransId="{9C33DB22-E9B7-B04E-AA0C-DF7827603683}"/>
    <dgm:cxn modelId="{5303589F-45E3-2B4E-8D6B-245E26A0ADB0}" type="presOf" srcId="{C8C2DA34-C4BA-5440-82DC-328DE7C116D7}" destId="{2C78F39B-4D7A-284F-8BA6-545A5B8C2EC3}" srcOrd="1" destOrd="0" presId="urn:microsoft.com/office/officeart/2005/8/layout/hierarchy3"/>
    <dgm:cxn modelId="{5E3CE9A3-B118-ED4F-8093-A6F0F67C7C55}" type="presOf" srcId="{33ECA1B6-B36C-A347-8D67-172AFA21AD60}" destId="{FBD1883A-BCDB-0440-89B9-672ACD06ECB1}" srcOrd="0" destOrd="0" presId="urn:microsoft.com/office/officeart/2005/8/layout/hierarchy3"/>
    <dgm:cxn modelId="{6EE74DA9-93CB-0A47-96BA-93E65AC77533}" srcId="{EA0AE9E3-44AA-2049-9BDC-C9CFF9F2B813}" destId="{81B9C9DE-7466-F940-A6D9-2439B55E7F93}" srcOrd="0" destOrd="0" parTransId="{044552EE-81CE-2342-BA20-FEBF27C7685A}" sibTransId="{5B2BF573-AE5D-F34B-BA2E-DB0E70572C4F}"/>
    <dgm:cxn modelId="{B232DFAE-4B49-9F41-AB88-D74F9A1DD031}" type="presOf" srcId="{EA62E9B9-8684-384A-8AEE-678672AE23BD}" destId="{DE69B898-9E93-3042-8545-4DCE496CB4D7}" srcOrd="0" destOrd="0" presId="urn:microsoft.com/office/officeart/2005/8/layout/hierarchy3"/>
    <dgm:cxn modelId="{57852FB5-EC0B-FD4F-89D1-2A5E70F34EC1}" type="presOf" srcId="{2010ECC8-CDDC-B046-8998-A047A5ED51DF}" destId="{35354CA2-6CCA-4C42-9CAF-4067C86703C5}" srcOrd="0" destOrd="0" presId="urn:microsoft.com/office/officeart/2005/8/layout/hierarchy3"/>
    <dgm:cxn modelId="{BAB5CAC0-6375-A74E-A3B1-9CFB60DD6201}" type="presOf" srcId="{AEF1D845-CB86-8D4E-8944-7EF0B7E3840D}" destId="{B66514D4-52C8-B543-99D7-2461B82EDFDD}" srcOrd="0" destOrd="0" presId="urn:microsoft.com/office/officeart/2005/8/layout/hierarchy3"/>
    <dgm:cxn modelId="{36BFA5D9-FA55-A14C-9608-82599224D324}" srcId="{EA0AE9E3-44AA-2049-9BDC-C9CFF9F2B813}" destId="{AEF1D845-CB86-8D4E-8944-7EF0B7E3840D}" srcOrd="1" destOrd="0" parTransId="{5AB15704-403F-4E45-A453-DA084ACB784A}" sibTransId="{DCF282CE-FB74-CB4F-963B-C8C4EA4400E7}"/>
    <dgm:cxn modelId="{C5FE9EE1-E418-AB4D-9F61-BB887BAD2C07}" type="presOf" srcId="{B09BE260-B542-CD43-8BD7-EF7102BDF189}" destId="{8DBCC27A-7FD6-6E4F-9A23-76D10ABEC87F}" srcOrd="0" destOrd="0" presId="urn:microsoft.com/office/officeart/2005/8/layout/hierarchy3"/>
    <dgm:cxn modelId="{E552A6E2-0535-0D4E-AC06-09166FB9DDEB}" srcId="{81B9C9DE-7466-F940-A6D9-2439B55E7F93}" destId="{33ECA1B6-B36C-A347-8D67-172AFA21AD60}" srcOrd="2" destOrd="0" parTransId="{F1E28711-9A0C-0A42-8EA4-A14BBC9E69FC}" sibTransId="{DD255150-9EEE-7846-A89B-18819A861705}"/>
    <dgm:cxn modelId="{0FA99FE8-C259-9540-A240-C925CD707FE7}" srcId="{AEF1D845-CB86-8D4E-8944-7EF0B7E3840D}" destId="{FC2F980C-F60D-0643-8A34-0880B24A2D5D}" srcOrd="2" destOrd="0" parTransId="{46D7A59F-E9E7-3242-A4C6-CFB59189B99E}" sibTransId="{A9F29F67-4C71-D94B-B4AD-C5313E1F3D1F}"/>
    <dgm:cxn modelId="{14058BE8-66EB-FE4A-B3B7-7980FF68C661}" type="presParOf" srcId="{4D38B4A8-B245-B44B-905D-07B203D5E20D}" destId="{7F4B848F-2326-FF4F-9418-C79A46758A98}" srcOrd="0" destOrd="0" presId="urn:microsoft.com/office/officeart/2005/8/layout/hierarchy3"/>
    <dgm:cxn modelId="{2EA80FF8-9BE8-4044-A37C-17981EC000A1}" type="presParOf" srcId="{7F4B848F-2326-FF4F-9418-C79A46758A98}" destId="{83425D40-2B3B-8A4A-9C62-3D40054B9C45}" srcOrd="0" destOrd="0" presId="urn:microsoft.com/office/officeart/2005/8/layout/hierarchy3"/>
    <dgm:cxn modelId="{17B3E4E8-24B2-4349-BED9-1EAAA2591BD8}" type="presParOf" srcId="{83425D40-2B3B-8A4A-9C62-3D40054B9C45}" destId="{27666A01-9D6C-2844-BFF6-DAC868051375}" srcOrd="0" destOrd="0" presId="urn:microsoft.com/office/officeart/2005/8/layout/hierarchy3"/>
    <dgm:cxn modelId="{B60F1C72-8360-424F-B3CA-DBCDA3729FDC}" type="presParOf" srcId="{83425D40-2B3B-8A4A-9C62-3D40054B9C45}" destId="{2F0E27A2-8FD4-6549-BDB0-6326C8C68F2D}" srcOrd="1" destOrd="0" presId="urn:microsoft.com/office/officeart/2005/8/layout/hierarchy3"/>
    <dgm:cxn modelId="{26FEEB52-11E0-E243-98C6-9F709871671E}" type="presParOf" srcId="{7F4B848F-2326-FF4F-9418-C79A46758A98}" destId="{4DD9E7F8-9E19-6246-A49B-C5FBD868BCB1}" srcOrd="1" destOrd="0" presId="urn:microsoft.com/office/officeart/2005/8/layout/hierarchy3"/>
    <dgm:cxn modelId="{2B0556C9-5E15-F44A-B97B-B4857E3C16AD}" type="presParOf" srcId="{4DD9E7F8-9E19-6246-A49B-C5FBD868BCB1}" destId="{EFCE6367-05C1-6945-9E30-622F8C9EB80B}" srcOrd="0" destOrd="0" presId="urn:microsoft.com/office/officeart/2005/8/layout/hierarchy3"/>
    <dgm:cxn modelId="{9009305C-7FBC-CA44-94D4-1F0429E574A5}" type="presParOf" srcId="{4DD9E7F8-9E19-6246-A49B-C5FBD868BCB1}" destId="{DE69B898-9E93-3042-8545-4DCE496CB4D7}" srcOrd="1" destOrd="0" presId="urn:microsoft.com/office/officeart/2005/8/layout/hierarchy3"/>
    <dgm:cxn modelId="{E5FC00BE-3AEF-3346-8260-1B6CBBB24361}" type="presParOf" srcId="{4DD9E7F8-9E19-6246-A49B-C5FBD868BCB1}" destId="{35354CA2-6CCA-4C42-9CAF-4067C86703C5}" srcOrd="2" destOrd="0" presId="urn:microsoft.com/office/officeart/2005/8/layout/hierarchy3"/>
    <dgm:cxn modelId="{CE5BCA15-96DC-9441-9ADA-E5EDA2D6B8E4}" type="presParOf" srcId="{4DD9E7F8-9E19-6246-A49B-C5FBD868BCB1}" destId="{6C3E5D9A-94EA-634A-A7A6-3EA87FC60EB3}" srcOrd="3" destOrd="0" presId="urn:microsoft.com/office/officeart/2005/8/layout/hierarchy3"/>
    <dgm:cxn modelId="{94E4ED9F-46DC-894F-A41A-F9DAB19D02A5}" type="presParOf" srcId="{4DD9E7F8-9E19-6246-A49B-C5FBD868BCB1}" destId="{F04ACFF4-1AB4-9347-853E-5EC93F2695A8}" srcOrd="4" destOrd="0" presId="urn:microsoft.com/office/officeart/2005/8/layout/hierarchy3"/>
    <dgm:cxn modelId="{05EDF038-B536-EF45-9CCF-6D068409FDF0}" type="presParOf" srcId="{4DD9E7F8-9E19-6246-A49B-C5FBD868BCB1}" destId="{FBD1883A-BCDB-0440-89B9-672ACD06ECB1}" srcOrd="5" destOrd="0" presId="urn:microsoft.com/office/officeart/2005/8/layout/hierarchy3"/>
    <dgm:cxn modelId="{67D8929D-349F-1446-BD95-F821005B9AF9}" type="presParOf" srcId="{4DD9E7F8-9E19-6246-A49B-C5FBD868BCB1}" destId="{70260E99-9136-274F-B4BC-AA2341213354}" srcOrd="6" destOrd="0" presId="urn:microsoft.com/office/officeart/2005/8/layout/hierarchy3"/>
    <dgm:cxn modelId="{F7411AE1-26CC-1545-9662-15D5C41A8934}" type="presParOf" srcId="{4DD9E7F8-9E19-6246-A49B-C5FBD868BCB1}" destId="{DAE14BE1-82A0-4C49-ABCC-C764B4A4C0D3}" srcOrd="7" destOrd="0" presId="urn:microsoft.com/office/officeart/2005/8/layout/hierarchy3"/>
    <dgm:cxn modelId="{5F1CC352-66AC-184D-8928-94AFE6C8B637}" type="presParOf" srcId="{4DD9E7F8-9E19-6246-A49B-C5FBD868BCB1}" destId="{9E406B2F-02B1-2548-87B1-ABD2E20FF2EF}" srcOrd="8" destOrd="0" presId="urn:microsoft.com/office/officeart/2005/8/layout/hierarchy3"/>
    <dgm:cxn modelId="{12354E21-D874-454A-BAC0-996F895E8166}" type="presParOf" srcId="{4DD9E7F8-9E19-6246-A49B-C5FBD868BCB1}" destId="{2C86CF7C-FC5A-A540-A4EF-A2EC564488BF}" srcOrd="9" destOrd="0" presId="urn:microsoft.com/office/officeart/2005/8/layout/hierarchy3"/>
    <dgm:cxn modelId="{5149756E-BBEC-A248-A7D7-626C3D5743D9}" type="presParOf" srcId="{4D38B4A8-B245-B44B-905D-07B203D5E20D}" destId="{747CDDE5-9AE3-244F-B4AE-9FB43AF2957E}" srcOrd="1" destOrd="0" presId="urn:microsoft.com/office/officeart/2005/8/layout/hierarchy3"/>
    <dgm:cxn modelId="{C60A57D6-156B-DB4E-8472-33481216FFD8}" type="presParOf" srcId="{747CDDE5-9AE3-244F-B4AE-9FB43AF2957E}" destId="{04A08E1C-B3FB-FA4E-902B-650878C7B64B}" srcOrd="0" destOrd="0" presId="urn:microsoft.com/office/officeart/2005/8/layout/hierarchy3"/>
    <dgm:cxn modelId="{9E023049-29F6-9542-A937-DF4BD441E188}" type="presParOf" srcId="{04A08E1C-B3FB-FA4E-902B-650878C7B64B}" destId="{B66514D4-52C8-B543-99D7-2461B82EDFDD}" srcOrd="0" destOrd="0" presId="urn:microsoft.com/office/officeart/2005/8/layout/hierarchy3"/>
    <dgm:cxn modelId="{573ACBE1-47AC-734E-A1BD-0818A1B437FF}" type="presParOf" srcId="{04A08E1C-B3FB-FA4E-902B-650878C7B64B}" destId="{30706095-6F6E-7D41-9A79-047EF744E5D0}" srcOrd="1" destOrd="0" presId="urn:microsoft.com/office/officeart/2005/8/layout/hierarchy3"/>
    <dgm:cxn modelId="{D162F896-272E-394B-A86F-9149024142AF}" type="presParOf" srcId="{747CDDE5-9AE3-244F-B4AE-9FB43AF2957E}" destId="{EB266DA3-8581-EF4B-B3E8-169E105B8A21}" srcOrd="1" destOrd="0" presId="urn:microsoft.com/office/officeart/2005/8/layout/hierarchy3"/>
    <dgm:cxn modelId="{82247BEB-C137-D64B-8CE7-2FF7F53257D3}" type="presParOf" srcId="{EB266DA3-8581-EF4B-B3E8-169E105B8A21}" destId="{7268574D-F4AF-DB43-80A3-EDE29933501E}" srcOrd="0" destOrd="0" presId="urn:microsoft.com/office/officeart/2005/8/layout/hierarchy3"/>
    <dgm:cxn modelId="{AAB2679A-2388-7649-B63A-1DC76F985D4B}" type="presParOf" srcId="{EB266DA3-8581-EF4B-B3E8-169E105B8A21}" destId="{C0304FD5-A3B8-DA42-9F3D-097A96796C55}" srcOrd="1" destOrd="0" presId="urn:microsoft.com/office/officeart/2005/8/layout/hierarchy3"/>
    <dgm:cxn modelId="{3826B51B-0F70-1541-8815-A9F77B4B61AA}" type="presParOf" srcId="{EB266DA3-8581-EF4B-B3E8-169E105B8A21}" destId="{BE12D800-4225-B04F-AF0D-96806026E776}" srcOrd="2" destOrd="0" presId="urn:microsoft.com/office/officeart/2005/8/layout/hierarchy3"/>
    <dgm:cxn modelId="{A9B81F06-00DE-1B41-9E89-CE253B4FF969}" type="presParOf" srcId="{EB266DA3-8581-EF4B-B3E8-169E105B8A21}" destId="{8DBCC27A-7FD6-6E4F-9A23-76D10ABEC87F}" srcOrd="3" destOrd="0" presId="urn:microsoft.com/office/officeart/2005/8/layout/hierarchy3"/>
    <dgm:cxn modelId="{D50B48A8-B8CD-8F46-8ACD-7D2D8DC0DFEA}" type="presParOf" srcId="{EB266DA3-8581-EF4B-B3E8-169E105B8A21}" destId="{050785DA-D28B-6243-A6D0-DF0984DFAD66}" srcOrd="4" destOrd="0" presId="urn:microsoft.com/office/officeart/2005/8/layout/hierarchy3"/>
    <dgm:cxn modelId="{A47AEEBF-7B24-5C4B-A8E4-A18034E6AF8C}" type="presParOf" srcId="{EB266DA3-8581-EF4B-B3E8-169E105B8A21}" destId="{E17C8F60-0A2E-794B-A4FB-950CCDD9EF81}" srcOrd="5" destOrd="0" presId="urn:microsoft.com/office/officeart/2005/8/layout/hierarchy3"/>
    <dgm:cxn modelId="{68C0DE33-90FE-FD46-8AE0-06437D519C77}" type="presParOf" srcId="{4D38B4A8-B245-B44B-905D-07B203D5E20D}" destId="{1040D936-157E-464D-A17D-CA69F0113B82}" srcOrd="2" destOrd="0" presId="urn:microsoft.com/office/officeart/2005/8/layout/hierarchy3"/>
    <dgm:cxn modelId="{8560F31C-ED39-7B48-B2B1-02576DACE7BF}" type="presParOf" srcId="{1040D936-157E-464D-A17D-CA69F0113B82}" destId="{CBCC5D54-B465-9A47-956E-282C848E2551}" srcOrd="0" destOrd="0" presId="urn:microsoft.com/office/officeart/2005/8/layout/hierarchy3"/>
    <dgm:cxn modelId="{C19F103E-6366-E341-9B1F-64091FF2470D}" type="presParOf" srcId="{CBCC5D54-B465-9A47-956E-282C848E2551}" destId="{63EBF94D-C2CD-684E-8B34-70890B4405A1}" srcOrd="0" destOrd="0" presId="urn:microsoft.com/office/officeart/2005/8/layout/hierarchy3"/>
    <dgm:cxn modelId="{489D3A5C-0745-DA42-B3A6-8B8FA0F16AE5}" type="presParOf" srcId="{CBCC5D54-B465-9A47-956E-282C848E2551}" destId="{2C78F39B-4D7A-284F-8BA6-545A5B8C2EC3}" srcOrd="1" destOrd="0" presId="urn:microsoft.com/office/officeart/2005/8/layout/hierarchy3"/>
    <dgm:cxn modelId="{2EDF91DA-0548-0942-82BE-E8DB1C1F37FF}" type="presParOf" srcId="{1040D936-157E-464D-A17D-CA69F0113B82}" destId="{473798A6-271B-2940-99B7-94D916A1D082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666A01-9D6C-2844-BFF6-DAC868051375}">
      <dsp:nvSpPr>
        <dsp:cNvPr id="0" name=""/>
        <dsp:cNvSpPr/>
      </dsp:nvSpPr>
      <dsp:spPr>
        <a:xfrm>
          <a:off x="861691" y="70562"/>
          <a:ext cx="1653963" cy="68167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ML-подход </a:t>
          </a:r>
        </a:p>
      </dsp:txBody>
      <dsp:txXfrm>
        <a:off x="881656" y="90527"/>
        <a:ext cx="1614033" cy="641740"/>
      </dsp:txXfrm>
    </dsp:sp>
    <dsp:sp modelId="{EFCE6367-05C1-6945-9E30-622F8C9EB80B}">
      <dsp:nvSpPr>
        <dsp:cNvPr id="0" name=""/>
        <dsp:cNvSpPr/>
      </dsp:nvSpPr>
      <dsp:spPr>
        <a:xfrm>
          <a:off x="981368" y="752232"/>
          <a:ext cx="91440" cy="44146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41463"/>
              </a:lnTo>
              <a:lnTo>
                <a:pt x="135423" y="441463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69B898-9E93-3042-8545-4DCE496CB4D7}">
      <dsp:nvSpPr>
        <dsp:cNvPr id="0" name=""/>
        <dsp:cNvSpPr/>
      </dsp:nvSpPr>
      <dsp:spPr>
        <a:xfrm>
          <a:off x="1116791" y="852860"/>
          <a:ext cx="1558592" cy="68167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u="none" kern="1200" dirty="0"/>
            <a:t>Линейная регрессия</a:t>
          </a:r>
        </a:p>
      </dsp:txBody>
      <dsp:txXfrm>
        <a:off x="1136756" y="872825"/>
        <a:ext cx="1518662" cy="641740"/>
      </dsp:txXfrm>
    </dsp:sp>
    <dsp:sp modelId="{35354CA2-6CCA-4C42-9CAF-4067C86703C5}">
      <dsp:nvSpPr>
        <dsp:cNvPr id="0" name=""/>
        <dsp:cNvSpPr/>
      </dsp:nvSpPr>
      <dsp:spPr>
        <a:xfrm>
          <a:off x="981368" y="752232"/>
          <a:ext cx="91440" cy="129355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93550"/>
              </a:lnTo>
              <a:lnTo>
                <a:pt x="135423" y="1293550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3E5D9A-94EA-634A-A7A6-3EA87FC60EB3}">
      <dsp:nvSpPr>
        <dsp:cNvPr id="0" name=""/>
        <dsp:cNvSpPr/>
      </dsp:nvSpPr>
      <dsp:spPr>
        <a:xfrm>
          <a:off x="1116791" y="1704948"/>
          <a:ext cx="1558592" cy="68167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Гребневая регрессия</a:t>
          </a:r>
        </a:p>
      </dsp:txBody>
      <dsp:txXfrm>
        <a:off x="1136756" y="1724913"/>
        <a:ext cx="1518662" cy="641740"/>
      </dsp:txXfrm>
    </dsp:sp>
    <dsp:sp modelId="{F04ACFF4-1AB4-9347-853E-5EC93F2695A8}">
      <dsp:nvSpPr>
        <dsp:cNvPr id="0" name=""/>
        <dsp:cNvSpPr/>
      </dsp:nvSpPr>
      <dsp:spPr>
        <a:xfrm>
          <a:off x="981368" y="752232"/>
          <a:ext cx="91440" cy="21456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45638"/>
              </a:lnTo>
              <a:lnTo>
                <a:pt x="135423" y="2145638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D1883A-BCDB-0440-89B9-672ACD06ECB1}">
      <dsp:nvSpPr>
        <dsp:cNvPr id="0" name=""/>
        <dsp:cNvSpPr/>
      </dsp:nvSpPr>
      <dsp:spPr>
        <a:xfrm>
          <a:off x="1116791" y="2557035"/>
          <a:ext cx="1558592" cy="68167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Регрессия с отбором  признаков</a:t>
          </a:r>
        </a:p>
      </dsp:txBody>
      <dsp:txXfrm>
        <a:off x="1136756" y="2577000"/>
        <a:ext cx="1518662" cy="641740"/>
      </dsp:txXfrm>
    </dsp:sp>
    <dsp:sp modelId="{70260E99-9136-274F-B4BC-AA2341213354}">
      <dsp:nvSpPr>
        <dsp:cNvPr id="0" name=""/>
        <dsp:cNvSpPr/>
      </dsp:nvSpPr>
      <dsp:spPr>
        <a:xfrm>
          <a:off x="981368" y="752232"/>
          <a:ext cx="91440" cy="299772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97725"/>
              </a:lnTo>
              <a:lnTo>
                <a:pt x="135423" y="2997725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E14BE1-82A0-4C49-ABCC-C764B4A4C0D3}">
      <dsp:nvSpPr>
        <dsp:cNvPr id="0" name=""/>
        <dsp:cNvSpPr/>
      </dsp:nvSpPr>
      <dsp:spPr>
        <a:xfrm>
          <a:off x="1116791" y="3409123"/>
          <a:ext cx="1558592" cy="68167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XGBoost</a:t>
          </a:r>
          <a:endParaRPr lang="ru-RU" sz="1400" kern="1200" dirty="0"/>
        </a:p>
      </dsp:txBody>
      <dsp:txXfrm>
        <a:off x="1136756" y="3429088"/>
        <a:ext cx="1518662" cy="641740"/>
      </dsp:txXfrm>
    </dsp:sp>
    <dsp:sp modelId="{9E406B2F-02B1-2548-87B1-ABD2E20FF2EF}">
      <dsp:nvSpPr>
        <dsp:cNvPr id="0" name=""/>
        <dsp:cNvSpPr/>
      </dsp:nvSpPr>
      <dsp:spPr>
        <a:xfrm>
          <a:off x="981368" y="752232"/>
          <a:ext cx="91440" cy="384981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49813"/>
              </a:lnTo>
              <a:lnTo>
                <a:pt x="135423" y="3849813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86CF7C-FC5A-A540-A4EF-A2EC564488BF}">
      <dsp:nvSpPr>
        <dsp:cNvPr id="0" name=""/>
        <dsp:cNvSpPr/>
      </dsp:nvSpPr>
      <dsp:spPr>
        <a:xfrm>
          <a:off x="1116791" y="4261210"/>
          <a:ext cx="1558592" cy="68167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400" b="0" i="0" u="none" kern="1200"/>
            <a:t>Random Forest</a:t>
          </a:r>
          <a:endParaRPr lang="en" sz="1400" kern="1200"/>
        </a:p>
      </dsp:txBody>
      <dsp:txXfrm>
        <a:off x="1136756" y="4281175"/>
        <a:ext cx="1518662" cy="641740"/>
      </dsp:txXfrm>
    </dsp:sp>
    <dsp:sp modelId="{B66514D4-52C8-B543-99D7-2461B82EDFDD}">
      <dsp:nvSpPr>
        <dsp:cNvPr id="0" name=""/>
        <dsp:cNvSpPr/>
      </dsp:nvSpPr>
      <dsp:spPr>
        <a:xfrm>
          <a:off x="3009906" y="846078"/>
          <a:ext cx="1815628" cy="68167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Многоуровневый  подход</a:t>
          </a:r>
        </a:p>
      </dsp:txBody>
      <dsp:txXfrm>
        <a:off x="3029871" y="866043"/>
        <a:ext cx="1775698" cy="641740"/>
      </dsp:txXfrm>
    </dsp:sp>
    <dsp:sp modelId="{7268574D-F4AF-DB43-80A3-EDE29933501E}">
      <dsp:nvSpPr>
        <dsp:cNvPr id="0" name=""/>
        <dsp:cNvSpPr/>
      </dsp:nvSpPr>
      <dsp:spPr>
        <a:xfrm>
          <a:off x="3191469" y="1527748"/>
          <a:ext cx="181549" cy="5112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1252"/>
              </a:lnTo>
              <a:lnTo>
                <a:pt x="181549" y="51125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304FD5-A3B8-DA42-9F3D-097A96796C55}">
      <dsp:nvSpPr>
        <dsp:cNvPr id="0" name=""/>
        <dsp:cNvSpPr/>
      </dsp:nvSpPr>
      <dsp:spPr>
        <a:xfrm>
          <a:off x="3373018" y="1698165"/>
          <a:ext cx="1558592" cy="68167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Null</a:t>
          </a:r>
          <a:r>
            <a:rPr lang="ru-RU" sz="1400" kern="1200" dirty="0"/>
            <a:t> модель</a:t>
          </a:r>
        </a:p>
      </dsp:txBody>
      <dsp:txXfrm>
        <a:off x="3392983" y="1718130"/>
        <a:ext cx="1518662" cy="641740"/>
      </dsp:txXfrm>
    </dsp:sp>
    <dsp:sp modelId="{BE12D800-4225-B04F-AF0D-96806026E776}">
      <dsp:nvSpPr>
        <dsp:cNvPr id="0" name=""/>
        <dsp:cNvSpPr/>
      </dsp:nvSpPr>
      <dsp:spPr>
        <a:xfrm>
          <a:off x="3191469" y="1527748"/>
          <a:ext cx="181549" cy="13633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3340"/>
              </a:lnTo>
              <a:lnTo>
                <a:pt x="181549" y="1363340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BCC27A-7FD6-6E4F-9A23-76D10ABEC87F}">
      <dsp:nvSpPr>
        <dsp:cNvPr id="0" name=""/>
        <dsp:cNvSpPr/>
      </dsp:nvSpPr>
      <dsp:spPr>
        <a:xfrm>
          <a:off x="3373018" y="2550253"/>
          <a:ext cx="1558592" cy="68167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Модель с инд. признаками</a:t>
          </a:r>
        </a:p>
      </dsp:txBody>
      <dsp:txXfrm>
        <a:off x="3392983" y="2570218"/>
        <a:ext cx="1518662" cy="641740"/>
      </dsp:txXfrm>
    </dsp:sp>
    <dsp:sp modelId="{050785DA-D28B-6243-A6D0-DF0984DFAD66}">
      <dsp:nvSpPr>
        <dsp:cNvPr id="0" name=""/>
        <dsp:cNvSpPr/>
      </dsp:nvSpPr>
      <dsp:spPr>
        <a:xfrm>
          <a:off x="3191469" y="1527748"/>
          <a:ext cx="181549" cy="22154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5427"/>
              </a:lnTo>
              <a:lnTo>
                <a:pt x="181549" y="2215427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7C8F60-0A2E-794B-A4FB-950CCDD9EF81}">
      <dsp:nvSpPr>
        <dsp:cNvPr id="0" name=""/>
        <dsp:cNvSpPr/>
      </dsp:nvSpPr>
      <dsp:spPr>
        <a:xfrm>
          <a:off x="3373018" y="3402340"/>
          <a:ext cx="1558592" cy="68167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Полная модель</a:t>
          </a:r>
        </a:p>
      </dsp:txBody>
      <dsp:txXfrm>
        <a:off x="3392983" y="3422305"/>
        <a:ext cx="1518662" cy="641740"/>
      </dsp:txXfrm>
    </dsp:sp>
    <dsp:sp modelId="{63EBF94D-C2CD-684E-8B34-70890B4405A1}">
      <dsp:nvSpPr>
        <dsp:cNvPr id="0" name=""/>
        <dsp:cNvSpPr/>
      </dsp:nvSpPr>
      <dsp:spPr>
        <a:xfrm>
          <a:off x="5372097" y="2130991"/>
          <a:ext cx="1363340" cy="68167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Сопоставление</a:t>
          </a:r>
        </a:p>
      </dsp:txBody>
      <dsp:txXfrm>
        <a:off x="5392062" y="2150956"/>
        <a:ext cx="1323410" cy="6417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BBE73-A4E8-E742-A412-9C69A7DB7B08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28629-327F-AF45-9E2F-144EFA6482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0998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28629-327F-AF45-9E2F-144EFA64822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1348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7194" y="464350"/>
            <a:ext cx="448271" cy="44827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298697" y="464312"/>
            <a:ext cx="6978650" cy="586740"/>
          </a:xfrm>
          <a:custGeom>
            <a:avLst/>
            <a:gdLst/>
            <a:ahLst/>
            <a:cxnLst/>
            <a:rect l="l" t="t" r="r" b="b"/>
            <a:pathLst>
              <a:path w="6978650" h="586740">
                <a:moveTo>
                  <a:pt x="0" y="0"/>
                </a:moveTo>
                <a:lnTo>
                  <a:pt x="0" y="586359"/>
                </a:lnTo>
              </a:path>
              <a:path w="6978650" h="586740">
                <a:moveTo>
                  <a:pt x="2800730" y="0"/>
                </a:moveTo>
                <a:lnTo>
                  <a:pt x="2800730" y="586359"/>
                </a:lnTo>
              </a:path>
              <a:path w="6978650" h="586740">
                <a:moveTo>
                  <a:pt x="6978396" y="0"/>
                </a:moveTo>
                <a:lnTo>
                  <a:pt x="6978396" y="586359"/>
                </a:lnTo>
              </a:path>
            </a:pathLst>
          </a:custGeom>
          <a:ln w="12700">
            <a:solidFill>
              <a:srgbClr val="0F2C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3853" y="962113"/>
              <a:ext cx="886498" cy="88649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090158" y="985392"/>
              <a:ext cx="5088890" cy="840105"/>
            </a:xfrm>
            <a:custGeom>
              <a:avLst/>
              <a:gdLst/>
              <a:ahLst/>
              <a:cxnLst/>
              <a:rect l="l" t="t" r="r" b="b"/>
              <a:pathLst>
                <a:path w="5088890" h="840105">
                  <a:moveTo>
                    <a:pt x="0" y="0"/>
                  </a:moveTo>
                  <a:lnTo>
                    <a:pt x="0" y="840105"/>
                  </a:lnTo>
                </a:path>
                <a:path w="5088890" h="840105">
                  <a:moveTo>
                    <a:pt x="2552445" y="0"/>
                  </a:moveTo>
                  <a:lnTo>
                    <a:pt x="2552445" y="840105"/>
                  </a:lnTo>
                </a:path>
                <a:path w="5088890" h="840105">
                  <a:moveTo>
                    <a:pt x="5088890" y="0"/>
                  </a:moveTo>
                  <a:lnTo>
                    <a:pt x="5088890" y="840105"/>
                  </a:lnTo>
                </a:path>
              </a:pathLst>
            </a:custGeom>
            <a:ln w="12700">
              <a:solidFill>
                <a:srgbClr val="0F2C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062352" y="1163192"/>
            <a:ext cx="26720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solidFill>
                  <a:srgbClr val="0E2C68"/>
                </a:solidFill>
                <a:latin typeface="Calibri"/>
                <a:cs typeface="Calibri"/>
              </a:rPr>
              <a:t>Факультет</a:t>
            </a:r>
            <a:r>
              <a:rPr sz="1600" spc="-5" dirty="0">
                <a:solidFill>
                  <a:srgbClr val="0E2C68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E2C68"/>
                </a:solidFill>
                <a:latin typeface="Calibri"/>
                <a:cs typeface="Calibri"/>
              </a:rPr>
              <a:t>компьютерных</a:t>
            </a:r>
            <a:r>
              <a:rPr sz="1600" spc="25" dirty="0">
                <a:solidFill>
                  <a:srgbClr val="0E2C68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0E2C68"/>
                </a:solidFill>
                <a:latin typeface="Calibri"/>
                <a:cs typeface="Calibri"/>
              </a:rPr>
              <a:t>наук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47638" y="1152271"/>
            <a:ext cx="1701164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200" dirty="0">
                <a:solidFill>
                  <a:srgbClr val="0D2C69"/>
                </a:solidFill>
                <a:latin typeface="Calibri"/>
                <a:cs typeface="Calibri"/>
              </a:rPr>
              <a:t>Анализ больших данных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74938" y="1152271"/>
            <a:ext cx="864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D2C69"/>
                </a:solidFill>
                <a:latin typeface="Calibri"/>
                <a:cs typeface="Calibri"/>
              </a:rPr>
              <a:t>Москва</a:t>
            </a:r>
            <a:r>
              <a:rPr sz="1200" spc="-20" dirty="0">
                <a:solidFill>
                  <a:srgbClr val="0D2C69"/>
                </a:solidFill>
                <a:latin typeface="Calibri"/>
                <a:cs typeface="Calibri"/>
              </a:rPr>
              <a:t> 2026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5390" y="4839080"/>
            <a:ext cx="26644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0D2C69"/>
                </a:solidFill>
                <a:latin typeface="Calibri"/>
                <a:cs typeface="Calibri"/>
              </a:rPr>
              <a:t>Студент:</a:t>
            </a:r>
            <a:r>
              <a:rPr sz="1200" dirty="0">
                <a:solidFill>
                  <a:srgbClr val="0D2C69"/>
                </a:solidFill>
                <a:latin typeface="Calibri"/>
                <a:cs typeface="Calibri"/>
              </a:rPr>
              <a:t> </a:t>
            </a:r>
            <a:r>
              <a:rPr lang="ru-RU" sz="1200" spc="-10" dirty="0">
                <a:solidFill>
                  <a:srgbClr val="0D2C69"/>
                </a:solidFill>
                <a:latin typeface="Calibri"/>
                <a:cs typeface="Calibri"/>
              </a:rPr>
              <a:t>Дунаев </a:t>
            </a:r>
            <a:r>
              <a:rPr lang="ru-RU" sz="1200" dirty="0">
                <a:solidFill>
                  <a:srgbClr val="0D2C69"/>
                </a:solidFill>
                <a:latin typeface="Calibri"/>
                <a:cs typeface="Calibri"/>
              </a:rPr>
              <a:t>Д</a:t>
            </a:r>
            <a:r>
              <a:rPr sz="1200" dirty="0">
                <a:solidFill>
                  <a:srgbClr val="0D2C69"/>
                </a:solidFill>
                <a:latin typeface="Calibri"/>
                <a:cs typeface="Calibri"/>
              </a:rPr>
              <a:t>.</a:t>
            </a:r>
            <a:r>
              <a:rPr sz="1200" spc="-5" dirty="0">
                <a:solidFill>
                  <a:srgbClr val="0D2C69"/>
                </a:solidFill>
                <a:latin typeface="Calibri"/>
                <a:cs typeface="Calibri"/>
              </a:rPr>
              <a:t> </a:t>
            </a:r>
            <a:r>
              <a:rPr lang="ru-RU" sz="1200" spc="-35" dirty="0">
                <a:solidFill>
                  <a:srgbClr val="0D2C69"/>
                </a:solidFill>
                <a:latin typeface="Calibri"/>
                <a:cs typeface="Calibri"/>
              </a:rPr>
              <a:t>В</a:t>
            </a:r>
            <a:r>
              <a:rPr sz="1200" spc="-35" dirty="0">
                <a:solidFill>
                  <a:srgbClr val="0D2C69"/>
                </a:solidFill>
                <a:latin typeface="Calibri"/>
                <a:cs typeface="Calibri"/>
              </a:rPr>
              <a:t>.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0D2C69"/>
                </a:solidFill>
                <a:latin typeface="Calibri"/>
                <a:cs typeface="Calibri"/>
              </a:rPr>
              <a:t>Научный</a:t>
            </a:r>
            <a:r>
              <a:rPr sz="1200" spc="-40" dirty="0">
                <a:solidFill>
                  <a:srgbClr val="0D2C6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D2C69"/>
                </a:solidFill>
                <a:latin typeface="Calibri"/>
                <a:cs typeface="Calibri"/>
              </a:rPr>
              <a:t>руководитель:</a:t>
            </a:r>
            <a:r>
              <a:rPr sz="1200" spc="-20" dirty="0">
                <a:solidFill>
                  <a:srgbClr val="0D2C69"/>
                </a:solidFill>
                <a:latin typeface="Calibri"/>
                <a:cs typeface="Calibri"/>
              </a:rPr>
              <a:t> </a:t>
            </a:r>
            <a:r>
              <a:rPr lang="ru-RU" sz="1200" dirty="0">
                <a:solidFill>
                  <a:srgbClr val="0D2C69"/>
                </a:solidFill>
                <a:latin typeface="Calibri"/>
                <a:cs typeface="Calibri"/>
              </a:rPr>
              <a:t>Паршина</a:t>
            </a:r>
            <a:r>
              <a:rPr sz="1200" spc="-50" dirty="0">
                <a:solidFill>
                  <a:srgbClr val="0D2C69"/>
                </a:solidFill>
                <a:latin typeface="Calibri"/>
                <a:cs typeface="Calibri"/>
              </a:rPr>
              <a:t> </a:t>
            </a:r>
            <a:r>
              <a:rPr lang="ru-RU" sz="1200" dirty="0">
                <a:solidFill>
                  <a:srgbClr val="0D2C69"/>
                </a:solidFill>
                <a:latin typeface="Calibri"/>
                <a:cs typeface="Calibri"/>
              </a:rPr>
              <a:t>А</a:t>
            </a:r>
            <a:r>
              <a:rPr sz="1200" dirty="0">
                <a:solidFill>
                  <a:srgbClr val="0D2C69"/>
                </a:solidFill>
                <a:latin typeface="Calibri"/>
                <a:cs typeface="Calibri"/>
              </a:rPr>
              <a:t>.</a:t>
            </a:r>
            <a:r>
              <a:rPr sz="1200" spc="-55" dirty="0">
                <a:solidFill>
                  <a:srgbClr val="0D2C69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D2C69"/>
                </a:solidFill>
                <a:latin typeface="Calibri"/>
                <a:cs typeface="Calibri"/>
              </a:rPr>
              <a:t>А.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5390" y="2285985"/>
            <a:ext cx="7578725" cy="245580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2000" dirty="0">
                <a:solidFill>
                  <a:srgbClr val="0D2C69"/>
                </a:solidFill>
                <a:latin typeface="Calibri"/>
                <a:cs typeface="Calibri"/>
              </a:rPr>
              <a:t>Выпускная</a:t>
            </a:r>
            <a:r>
              <a:rPr sz="2000" spc="-65" dirty="0">
                <a:solidFill>
                  <a:srgbClr val="0D2C6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C69"/>
                </a:solidFill>
                <a:latin typeface="Calibri"/>
                <a:cs typeface="Calibri"/>
              </a:rPr>
              <a:t>квалификационная</a:t>
            </a:r>
            <a:r>
              <a:rPr sz="2000" spc="-35" dirty="0">
                <a:solidFill>
                  <a:srgbClr val="0D2C6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C69"/>
                </a:solidFill>
                <a:latin typeface="Calibri"/>
                <a:cs typeface="Calibri"/>
              </a:rPr>
              <a:t>работа</a:t>
            </a:r>
            <a:r>
              <a:rPr sz="2000" spc="-60" dirty="0">
                <a:solidFill>
                  <a:srgbClr val="0D2C6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2C69"/>
                </a:solidFill>
                <a:latin typeface="Calibri"/>
                <a:cs typeface="Calibri"/>
              </a:rPr>
              <a:t>на</a:t>
            </a:r>
            <a:r>
              <a:rPr sz="2000" spc="-40" dirty="0">
                <a:solidFill>
                  <a:srgbClr val="0D2C6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2C69"/>
                </a:solidFill>
                <a:latin typeface="Calibri"/>
                <a:cs typeface="Calibri"/>
              </a:rPr>
              <a:t>тему:</a:t>
            </a:r>
            <a:endParaRPr sz="20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80"/>
              </a:spcBef>
            </a:pPr>
            <a:r>
              <a:rPr lang="ru-RU" sz="3200" dirty="0">
                <a:solidFill>
                  <a:srgbClr val="0D2C69"/>
                </a:solidFill>
                <a:latin typeface="Calibri"/>
                <a:cs typeface="Calibri"/>
              </a:rPr>
              <a:t>Ценности и личностные приоритеты граждан Европы: кросс-национальный анализ структуры базовых ценностей на данных </a:t>
            </a:r>
            <a:r>
              <a:rPr lang="en" sz="3200" dirty="0">
                <a:solidFill>
                  <a:srgbClr val="0D2C69"/>
                </a:solidFill>
                <a:latin typeface="Calibri"/>
                <a:cs typeface="Calibri"/>
              </a:rPr>
              <a:t>ESS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98632" y="503046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0F2C69"/>
                </a:solidFill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643868" y="464312"/>
            <a:ext cx="0" cy="586740"/>
          </a:xfrm>
          <a:custGeom>
            <a:avLst/>
            <a:gdLst/>
            <a:ahLst/>
            <a:cxnLst/>
            <a:rect l="l" t="t" r="r" b="b"/>
            <a:pathLst>
              <a:path h="586740">
                <a:moveTo>
                  <a:pt x="0" y="0"/>
                </a:moveTo>
                <a:lnTo>
                  <a:pt x="0" y="586359"/>
                </a:lnTo>
              </a:path>
            </a:pathLst>
          </a:custGeom>
          <a:ln w="12700">
            <a:solidFill>
              <a:srgbClr val="0F2C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1214" y="520699"/>
            <a:ext cx="141986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000" dirty="0">
                <a:solidFill>
                  <a:srgbClr val="0D2C69"/>
                </a:solidFill>
                <a:latin typeface="Calibri"/>
                <a:cs typeface="Calibri"/>
              </a:rPr>
              <a:t>Анализ больших данных</a:t>
            </a:r>
            <a:endParaRPr lang="ru-RU" sz="10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7890" y="528573"/>
            <a:ext cx="1149657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 err="1">
                <a:solidFill>
                  <a:srgbClr val="0D2C69"/>
                </a:solidFill>
                <a:latin typeface="Calibri"/>
                <a:cs typeface="Calibri"/>
              </a:rPr>
              <a:t>Актуальность</a:t>
            </a:r>
            <a:r>
              <a:rPr lang="ru-RU" sz="1000" spc="-10" dirty="0">
                <a:solidFill>
                  <a:srgbClr val="0D2C69"/>
                </a:solidFill>
                <a:latin typeface="Calibri"/>
                <a:cs typeface="Calibri"/>
              </a:rPr>
              <a:t> и цель работы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1000" y="1371600"/>
            <a:ext cx="7281545" cy="15420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E2C68"/>
                </a:solidFill>
                <a:latin typeface="Calibri"/>
                <a:cs typeface="Calibri"/>
              </a:rPr>
              <a:t>Актуальность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2400" dirty="0">
              <a:latin typeface="Calibri"/>
              <a:cs typeface="Calibri"/>
            </a:endParaRPr>
          </a:p>
          <a:p>
            <a:pPr marL="299085" indent="-286385">
              <a:buFont typeface="Arial MT"/>
              <a:buChar char="•"/>
              <a:tabLst>
                <a:tab pos="299085" algn="l"/>
              </a:tabLst>
            </a:pPr>
            <a:r>
              <a:rPr lang="ru-RU" sz="1800" dirty="0">
                <a:solidFill>
                  <a:srgbClr val="0E2C68"/>
                </a:solidFill>
                <a:latin typeface="Calibri"/>
                <a:cs typeface="Calibri"/>
              </a:rPr>
              <a:t>Социальное доверие </a:t>
            </a:r>
            <a:r>
              <a:rPr lang="ru-RU" dirty="0">
                <a:solidFill>
                  <a:srgbClr val="0E2C68"/>
                </a:solidFill>
                <a:latin typeface="Calibri"/>
                <a:cs typeface="Calibri"/>
              </a:rPr>
              <a:t>как нематериальный ресурс</a:t>
            </a:r>
          </a:p>
          <a:p>
            <a:pPr marL="299085" indent="-286385">
              <a:lnSpc>
                <a:spcPct val="150000"/>
              </a:lnSpc>
              <a:buFont typeface="Arial MT"/>
              <a:buChar char="•"/>
              <a:tabLst>
                <a:tab pos="299085" algn="l"/>
              </a:tabLst>
            </a:pPr>
            <a:r>
              <a:rPr lang="ru-RU" sz="1800" dirty="0">
                <a:solidFill>
                  <a:srgbClr val="0E2C68"/>
                </a:solidFill>
                <a:latin typeface="Calibri"/>
                <a:cs typeface="Calibri"/>
              </a:rPr>
              <a:t>Неравномерный уровень доверия по Европе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D939F74C-3D7D-4A78-F46C-54A494723187}"/>
              </a:ext>
            </a:extLst>
          </p:cNvPr>
          <p:cNvSpPr txBox="1"/>
          <p:nvPr/>
        </p:nvSpPr>
        <p:spPr>
          <a:xfrm>
            <a:off x="3436023" y="422626"/>
            <a:ext cx="211612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1000" spc="-10" dirty="0">
                <a:solidFill>
                  <a:srgbClr val="0D2C69"/>
                </a:solidFill>
                <a:latin typeface="Calibri"/>
                <a:cs typeface="Calibri"/>
              </a:rPr>
              <a:t>Ценности и личностные приоритеты граждан Европы: кросс-национальный анализ структуры базовых ценностей на данных </a:t>
            </a:r>
            <a:r>
              <a:rPr lang="en" sz="1000" spc="-10" dirty="0">
                <a:solidFill>
                  <a:srgbClr val="0D2C69"/>
                </a:solidFill>
                <a:latin typeface="Calibri"/>
                <a:cs typeface="Calibri"/>
              </a:rPr>
              <a:t>ESS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4BB18902-4D82-E7D1-8359-1BB50249FA04}"/>
              </a:ext>
            </a:extLst>
          </p:cNvPr>
          <p:cNvSpPr txBox="1"/>
          <p:nvPr/>
        </p:nvSpPr>
        <p:spPr>
          <a:xfrm>
            <a:off x="381000" y="3234286"/>
            <a:ext cx="8663305" cy="23211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4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b="1" dirty="0">
                <a:solidFill>
                  <a:srgbClr val="0D2C69"/>
                </a:solidFill>
                <a:latin typeface="Calibri"/>
                <a:cs typeface="Calibri"/>
              </a:rPr>
              <a:t>Цель</a:t>
            </a:r>
            <a:r>
              <a:rPr sz="1800" b="1" spc="-55" dirty="0">
                <a:solidFill>
                  <a:srgbClr val="0D2C6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2C69"/>
                </a:solidFill>
                <a:latin typeface="Calibri"/>
                <a:cs typeface="Calibri"/>
              </a:rPr>
              <a:t>работы</a:t>
            </a:r>
            <a:r>
              <a:rPr sz="1800" b="1" spc="-40" dirty="0">
                <a:solidFill>
                  <a:srgbClr val="0D2C6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2C69"/>
                </a:solidFill>
                <a:latin typeface="Calibri"/>
                <a:cs typeface="Calibri"/>
              </a:rPr>
              <a:t>—</a:t>
            </a:r>
            <a:r>
              <a:rPr sz="1800" spc="-35" dirty="0">
                <a:solidFill>
                  <a:srgbClr val="0D2C69"/>
                </a:solidFill>
                <a:latin typeface="Calibri"/>
                <a:cs typeface="Calibri"/>
              </a:rPr>
              <a:t> </a:t>
            </a:r>
            <a:r>
              <a:rPr lang="ru-RU" sz="1800" spc="-10" dirty="0">
                <a:solidFill>
                  <a:srgbClr val="0D2C69"/>
                </a:solidFill>
                <a:latin typeface="Calibri"/>
                <a:cs typeface="Calibri"/>
              </a:rPr>
              <a:t>определение индивидуальных и общих (страновых) факторов, связанных с доверием жителей Европы, с учётом иерархии данных и валидации измерительной модели ценностей</a:t>
            </a:r>
          </a:p>
          <a:p>
            <a:pPr marL="12700" marR="5080"/>
            <a:r>
              <a:rPr lang="ru-RU" sz="1800" b="1" spc="-10" dirty="0">
                <a:solidFill>
                  <a:srgbClr val="0D2C69"/>
                </a:solidFill>
                <a:latin typeface="Calibri"/>
                <a:cs typeface="Calibri"/>
              </a:rPr>
              <a:t>Объект работы</a:t>
            </a:r>
            <a:r>
              <a:rPr lang="ru-RU" sz="1800" spc="-10" dirty="0">
                <a:solidFill>
                  <a:srgbClr val="0D2C69"/>
                </a:solidFill>
                <a:latin typeface="Calibri"/>
                <a:cs typeface="Calibri"/>
              </a:rPr>
              <a:t> – жители 29 стран Европы</a:t>
            </a:r>
          </a:p>
          <a:p>
            <a:pPr marL="12700" marR="5080"/>
            <a:r>
              <a:rPr lang="ru-RU" sz="1800" b="1" spc="-10" dirty="0">
                <a:solidFill>
                  <a:srgbClr val="0D2C69"/>
                </a:solidFill>
                <a:latin typeface="Calibri"/>
                <a:cs typeface="Calibri"/>
              </a:rPr>
              <a:t>Предмет работы</a:t>
            </a:r>
            <a:r>
              <a:rPr lang="ru-RU" sz="1800" spc="-10" dirty="0">
                <a:solidFill>
                  <a:srgbClr val="0D2C69"/>
                </a:solidFill>
                <a:latin typeface="Calibri"/>
                <a:cs typeface="Calibri"/>
              </a:rPr>
              <a:t> – структура базовых ценностей по Шварцу и её связь с социальным доверием</a:t>
            </a:r>
          </a:p>
          <a:p>
            <a:pPr marL="12700" marR="5080"/>
            <a:r>
              <a:rPr lang="ru-RU" sz="1800" b="1" spc="-10" dirty="0">
                <a:solidFill>
                  <a:srgbClr val="0D2C69"/>
                </a:solidFill>
                <a:latin typeface="Calibri"/>
                <a:cs typeface="Calibri"/>
              </a:rPr>
              <a:t>Объём данных</a:t>
            </a:r>
            <a:r>
              <a:rPr lang="ru-RU" b="1" spc="-10" dirty="0">
                <a:solidFill>
                  <a:srgbClr val="0D2C69"/>
                </a:solidFill>
                <a:latin typeface="Calibri"/>
                <a:cs typeface="Calibri"/>
              </a:rPr>
              <a:t> </a:t>
            </a:r>
            <a:r>
              <a:rPr lang="ru-RU" spc="-10" dirty="0">
                <a:solidFill>
                  <a:srgbClr val="0D2C69"/>
                </a:solidFill>
                <a:latin typeface="Calibri"/>
                <a:cs typeface="Calibri"/>
              </a:rPr>
              <a:t>–</a:t>
            </a:r>
            <a:r>
              <a:rPr lang="ru-RU" sz="1800" spc="-10" dirty="0">
                <a:solidFill>
                  <a:srgbClr val="0D2C69"/>
                </a:solidFill>
                <a:latin typeface="Calibri"/>
                <a:cs typeface="Calibri"/>
              </a:rPr>
              <a:t> 49 519 респондентов, 575 переменных в исходном файле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97500" y="509418"/>
            <a:ext cx="167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102D68"/>
                </a:solidFill>
                <a:latin typeface="Microsoft Sans Serif"/>
                <a:cs typeface="Microsoft Sans Serif"/>
              </a:rPr>
              <a:t>7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643868" y="464362"/>
            <a:ext cx="0" cy="586740"/>
          </a:xfrm>
          <a:custGeom>
            <a:avLst/>
            <a:gdLst/>
            <a:ahLst/>
            <a:cxnLst/>
            <a:rect l="l" t="t" r="r" b="b"/>
            <a:pathLst>
              <a:path h="586740">
                <a:moveTo>
                  <a:pt x="0" y="0"/>
                </a:moveTo>
                <a:lnTo>
                  <a:pt x="0" y="586259"/>
                </a:lnTo>
              </a:path>
            </a:pathLst>
          </a:custGeom>
          <a:ln w="12699">
            <a:solidFill>
              <a:srgbClr val="102D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0989" y="523123"/>
            <a:ext cx="177418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1000" spc="-10" dirty="0">
                <a:solidFill>
                  <a:srgbClr val="0E2C68"/>
                </a:solidFill>
                <a:latin typeface="Calibri"/>
                <a:cs typeface="Calibri"/>
              </a:rPr>
              <a:t>Искусственный</a:t>
            </a:r>
            <a:r>
              <a:rPr lang="ru-RU" sz="1000" spc="70" dirty="0">
                <a:solidFill>
                  <a:srgbClr val="0E2C68"/>
                </a:solidFill>
                <a:latin typeface="Calibri"/>
                <a:cs typeface="Calibri"/>
              </a:rPr>
              <a:t> </a:t>
            </a:r>
            <a:r>
              <a:rPr lang="ru-RU" sz="1000" spc="-10" dirty="0">
                <a:solidFill>
                  <a:srgbClr val="0E2C68"/>
                </a:solidFill>
                <a:latin typeface="Calibri"/>
                <a:cs typeface="Calibri"/>
              </a:rPr>
              <a:t>интеллект</a:t>
            </a:r>
            <a:endParaRPr lang="ru-RU" sz="10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7190" y="530940"/>
            <a:ext cx="150333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60" dirty="0" err="1">
                <a:solidFill>
                  <a:srgbClr val="0D2D68"/>
                </a:solidFill>
                <a:latin typeface="Verdana"/>
                <a:cs typeface="Verdana"/>
              </a:rPr>
              <a:t>Гипотезы</a:t>
            </a:r>
            <a:r>
              <a:rPr lang="ru-RU" sz="1000" spc="-60" dirty="0">
                <a:solidFill>
                  <a:srgbClr val="0D2D68"/>
                </a:solidFill>
                <a:latin typeface="Verdana"/>
                <a:cs typeface="Verdana"/>
              </a:rPr>
              <a:t> исследования</a:t>
            </a:r>
            <a:endParaRPr sz="1000" dirty="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06224" y="2328463"/>
            <a:ext cx="600075" cy="519430"/>
            <a:chOff x="1006224" y="1744937"/>
            <a:chExt cx="600075" cy="519430"/>
          </a:xfrm>
        </p:grpSpPr>
        <p:sp>
          <p:nvSpPr>
            <p:cNvPr id="8" name="object 8"/>
            <p:cNvSpPr/>
            <p:nvPr/>
          </p:nvSpPr>
          <p:spPr>
            <a:xfrm>
              <a:off x="1010986" y="1749699"/>
              <a:ext cx="590550" cy="509905"/>
            </a:xfrm>
            <a:custGeom>
              <a:avLst/>
              <a:gdLst/>
              <a:ahLst/>
              <a:cxnLst/>
              <a:rect l="l" t="t" r="r" b="b"/>
              <a:pathLst>
                <a:path w="590550" h="509905">
                  <a:moveTo>
                    <a:pt x="505498" y="509399"/>
                  </a:moveTo>
                  <a:lnTo>
                    <a:pt x="84901" y="509399"/>
                  </a:lnTo>
                  <a:lnTo>
                    <a:pt x="51854" y="502728"/>
                  </a:lnTo>
                  <a:lnTo>
                    <a:pt x="24867" y="484532"/>
                  </a:lnTo>
                  <a:lnTo>
                    <a:pt x="6671" y="457545"/>
                  </a:lnTo>
                  <a:lnTo>
                    <a:pt x="0" y="424498"/>
                  </a:lnTo>
                  <a:lnTo>
                    <a:pt x="0" y="84901"/>
                  </a:lnTo>
                  <a:lnTo>
                    <a:pt x="6671" y="51854"/>
                  </a:lnTo>
                  <a:lnTo>
                    <a:pt x="24867" y="24867"/>
                  </a:lnTo>
                  <a:lnTo>
                    <a:pt x="51854" y="6671"/>
                  </a:lnTo>
                  <a:lnTo>
                    <a:pt x="84901" y="0"/>
                  </a:lnTo>
                  <a:lnTo>
                    <a:pt x="505498" y="0"/>
                  </a:lnTo>
                  <a:lnTo>
                    <a:pt x="552601" y="14264"/>
                  </a:lnTo>
                  <a:lnTo>
                    <a:pt x="583937" y="52411"/>
                  </a:lnTo>
                  <a:lnTo>
                    <a:pt x="590399" y="84901"/>
                  </a:lnTo>
                  <a:lnTo>
                    <a:pt x="590399" y="424498"/>
                  </a:lnTo>
                  <a:lnTo>
                    <a:pt x="583728" y="457545"/>
                  </a:lnTo>
                  <a:lnTo>
                    <a:pt x="565532" y="484532"/>
                  </a:lnTo>
                  <a:lnTo>
                    <a:pt x="538545" y="502728"/>
                  </a:lnTo>
                  <a:lnTo>
                    <a:pt x="505498" y="509399"/>
                  </a:lnTo>
                  <a:close/>
                </a:path>
              </a:pathLst>
            </a:custGeom>
            <a:solidFill>
              <a:srgbClr val="E7EB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10986" y="1749699"/>
              <a:ext cx="590550" cy="509905"/>
            </a:xfrm>
            <a:custGeom>
              <a:avLst/>
              <a:gdLst/>
              <a:ahLst/>
              <a:cxnLst/>
              <a:rect l="l" t="t" r="r" b="b"/>
              <a:pathLst>
                <a:path w="590550" h="509905">
                  <a:moveTo>
                    <a:pt x="0" y="84901"/>
                  </a:moveTo>
                  <a:lnTo>
                    <a:pt x="6671" y="51854"/>
                  </a:lnTo>
                  <a:lnTo>
                    <a:pt x="24867" y="24867"/>
                  </a:lnTo>
                  <a:lnTo>
                    <a:pt x="51854" y="6671"/>
                  </a:lnTo>
                  <a:lnTo>
                    <a:pt x="84901" y="0"/>
                  </a:lnTo>
                  <a:lnTo>
                    <a:pt x="505498" y="0"/>
                  </a:lnTo>
                  <a:lnTo>
                    <a:pt x="552601" y="14264"/>
                  </a:lnTo>
                  <a:lnTo>
                    <a:pt x="583937" y="52411"/>
                  </a:lnTo>
                  <a:lnTo>
                    <a:pt x="590399" y="84901"/>
                  </a:lnTo>
                  <a:lnTo>
                    <a:pt x="590399" y="424498"/>
                  </a:lnTo>
                  <a:lnTo>
                    <a:pt x="583728" y="457545"/>
                  </a:lnTo>
                  <a:lnTo>
                    <a:pt x="565532" y="484532"/>
                  </a:lnTo>
                  <a:lnTo>
                    <a:pt x="538545" y="502728"/>
                  </a:lnTo>
                  <a:lnTo>
                    <a:pt x="505498" y="509399"/>
                  </a:lnTo>
                  <a:lnTo>
                    <a:pt x="84901" y="509399"/>
                  </a:lnTo>
                  <a:lnTo>
                    <a:pt x="51854" y="502728"/>
                  </a:lnTo>
                  <a:lnTo>
                    <a:pt x="24867" y="484532"/>
                  </a:lnTo>
                  <a:lnTo>
                    <a:pt x="6671" y="457545"/>
                  </a:lnTo>
                  <a:lnTo>
                    <a:pt x="0" y="424498"/>
                  </a:lnTo>
                  <a:lnTo>
                    <a:pt x="0" y="84901"/>
                  </a:lnTo>
                  <a:close/>
                </a:path>
              </a:pathLst>
            </a:custGeom>
            <a:ln w="9524">
              <a:solidFill>
                <a:srgbClr val="0F2C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71343" y="2443272"/>
            <a:ext cx="2698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45" dirty="0">
                <a:solidFill>
                  <a:srgbClr val="0F2C68"/>
                </a:solidFill>
                <a:latin typeface="Tahoma"/>
                <a:cs typeface="Tahoma"/>
              </a:rPr>
              <a:t>H1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06224" y="2949992"/>
            <a:ext cx="600075" cy="519430"/>
            <a:chOff x="1006224" y="2366466"/>
            <a:chExt cx="600075" cy="519430"/>
          </a:xfrm>
        </p:grpSpPr>
        <p:sp>
          <p:nvSpPr>
            <p:cNvPr id="12" name="object 12"/>
            <p:cNvSpPr/>
            <p:nvPr/>
          </p:nvSpPr>
          <p:spPr>
            <a:xfrm>
              <a:off x="1010986" y="2371228"/>
              <a:ext cx="590550" cy="509905"/>
            </a:xfrm>
            <a:custGeom>
              <a:avLst/>
              <a:gdLst/>
              <a:ahLst/>
              <a:cxnLst/>
              <a:rect l="l" t="t" r="r" b="b"/>
              <a:pathLst>
                <a:path w="590550" h="509905">
                  <a:moveTo>
                    <a:pt x="505498" y="509399"/>
                  </a:moveTo>
                  <a:lnTo>
                    <a:pt x="84901" y="509399"/>
                  </a:lnTo>
                  <a:lnTo>
                    <a:pt x="51854" y="502727"/>
                  </a:lnTo>
                  <a:lnTo>
                    <a:pt x="24867" y="484532"/>
                  </a:lnTo>
                  <a:lnTo>
                    <a:pt x="6671" y="457545"/>
                  </a:lnTo>
                  <a:lnTo>
                    <a:pt x="0" y="424498"/>
                  </a:lnTo>
                  <a:lnTo>
                    <a:pt x="0" y="84901"/>
                  </a:lnTo>
                  <a:lnTo>
                    <a:pt x="6671" y="51854"/>
                  </a:lnTo>
                  <a:lnTo>
                    <a:pt x="24867" y="24867"/>
                  </a:lnTo>
                  <a:lnTo>
                    <a:pt x="51854" y="6671"/>
                  </a:lnTo>
                  <a:lnTo>
                    <a:pt x="84901" y="0"/>
                  </a:lnTo>
                  <a:lnTo>
                    <a:pt x="505498" y="0"/>
                  </a:lnTo>
                  <a:lnTo>
                    <a:pt x="552601" y="14264"/>
                  </a:lnTo>
                  <a:lnTo>
                    <a:pt x="583937" y="52411"/>
                  </a:lnTo>
                  <a:lnTo>
                    <a:pt x="590399" y="84901"/>
                  </a:lnTo>
                  <a:lnTo>
                    <a:pt x="590399" y="424498"/>
                  </a:lnTo>
                  <a:lnTo>
                    <a:pt x="583728" y="457545"/>
                  </a:lnTo>
                  <a:lnTo>
                    <a:pt x="565532" y="484532"/>
                  </a:lnTo>
                  <a:lnTo>
                    <a:pt x="538545" y="502727"/>
                  </a:lnTo>
                  <a:lnTo>
                    <a:pt x="505498" y="509399"/>
                  </a:lnTo>
                  <a:close/>
                </a:path>
              </a:pathLst>
            </a:custGeom>
            <a:solidFill>
              <a:srgbClr val="E7EB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10986" y="2371228"/>
              <a:ext cx="590550" cy="509905"/>
            </a:xfrm>
            <a:custGeom>
              <a:avLst/>
              <a:gdLst/>
              <a:ahLst/>
              <a:cxnLst/>
              <a:rect l="l" t="t" r="r" b="b"/>
              <a:pathLst>
                <a:path w="590550" h="509905">
                  <a:moveTo>
                    <a:pt x="0" y="84901"/>
                  </a:moveTo>
                  <a:lnTo>
                    <a:pt x="6671" y="51854"/>
                  </a:lnTo>
                  <a:lnTo>
                    <a:pt x="24867" y="24867"/>
                  </a:lnTo>
                  <a:lnTo>
                    <a:pt x="51854" y="6671"/>
                  </a:lnTo>
                  <a:lnTo>
                    <a:pt x="84901" y="0"/>
                  </a:lnTo>
                  <a:lnTo>
                    <a:pt x="505498" y="0"/>
                  </a:lnTo>
                  <a:lnTo>
                    <a:pt x="552601" y="14264"/>
                  </a:lnTo>
                  <a:lnTo>
                    <a:pt x="583937" y="52411"/>
                  </a:lnTo>
                  <a:lnTo>
                    <a:pt x="590399" y="84901"/>
                  </a:lnTo>
                  <a:lnTo>
                    <a:pt x="590399" y="424498"/>
                  </a:lnTo>
                  <a:lnTo>
                    <a:pt x="583728" y="457545"/>
                  </a:lnTo>
                  <a:lnTo>
                    <a:pt x="565532" y="484532"/>
                  </a:lnTo>
                  <a:lnTo>
                    <a:pt x="538545" y="502727"/>
                  </a:lnTo>
                  <a:lnTo>
                    <a:pt x="505498" y="509399"/>
                  </a:lnTo>
                  <a:lnTo>
                    <a:pt x="84901" y="509399"/>
                  </a:lnTo>
                  <a:lnTo>
                    <a:pt x="51854" y="502727"/>
                  </a:lnTo>
                  <a:lnTo>
                    <a:pt x="24867" y="484532"/>
                  </a:lnTo>
                  <a:lnTo>
                    <a:pt x="6671" y="457545"/>
                  </a:lnTo>
                  <a:lnTo>
                    <a:pt x="0" y="424498"/>
                  </a:lnTo>
                  <a:lnTo>
                    <a:pt x="0" y="84901"/>
                  </a:lnTo>
                  <a:close/>
                </a:path>
              </a:pathLst>
            </a:custGeom>
            <a:ln w="9524">
              <a:solidFill>
                <a:srgbClr val="0F2C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159510" y="3064801"/>
            <a:ext cx="2940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solidFill>
                  <a:srgbClr val="0F2C68"/>
                </a:solidFill>
                <a:latin typeface="Tahoma"/>
                <a:cs typeface="Tahoma"/>
              </a:rPr>
              <a:t>H2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06224" y="3571504"/>
            <a:ext cx="600075" cy="519430"/>
            <a:chOff x="1006224" y="2987978"/>
            <a:chExt cx="600075" cy="519430"/>
          </a:xfrm>
        </p:grpSpPr>
        <p:sp>
          <p:nvSpPr>
            <p:cNvPr id="16" name="object 16"/>
            <p:cNvSpPr/>
            <p:nvPr/>
          </p:nvSpPr>
          <p:spPr>
            <a:xfrm>
              <a:off x="1010986" y="2992740"/>
              <a:ext cx="590550" cy="509905"/>
            </a:xfrm>
            <a:custGeom>
              <a:avLst/>
              <a:gdLst/>
              <a:ahLst/>
              <a:cxnLst/>
              <a:rect l="l" t="t" r="r" b="b"/>
              <a:pathLst>
                <a:path w="590550" h="509904">
                  <a:moveTo>
                    <a:pt x="505498" y="509400"/>
                  </a:moveTo>
                  <a:lnTo>
                    <a:pt x="84901" y="509400"/>
                  </a:lnTo>
                  <a:lnTo>
                    <a:pt x="51854" y="502728"/>
                  </a:lnTo>
                  <a:lnTo>
                    <a:pt x="24867" y="484533"/>
                  </a:lnTo>
                  <a:lnTo>
                    <a:pt x="6671" y="457546"/>
                  </a:lnTo>
                  <a:lnTo>
                    <a:pt x="0" y="424498"/>
                  </a:lnTo>
                  <a:lnTo>
                    <a:pt x="0" y="84901"/>
                  </a:lnTo>
                  <a:lnTo>
                    <a:pt x="6671" y="51854"/>
                  </a:lnTo>
                  <a:lnTo>
                    <a:pt x="24867" y="24867"/>
                  </a:lnTo>
                  <a:lnTo>
                    <a:pt x="51854" y="6672"/>
                  </a:lnTo>
                  <a:lnTo>
                    <a:pt x="84901" y="0"/>
                  </a:lnTo>
                  <a:lnTo>
                    <a:pt x="505498" y="0"/>
                  </a:lnTo>
                  <a:lnTo>
                    <a:pt x="552601" y="14264"/>
                  </a:lnTo>
                  <a:lnTo>
                    <a:pt x="583937" y="52411"/>
                  </a:lnTo>
                  <a:lnTo>
                    <a:pt x="590399" y="84901"/>
                  </a:lnTo>
                  <a:lnTo>
                    <a:pt x="590399" y="424498"/>
                  </a:lnTo>
                  <a:lnTo>
                    <a:pt x="583728" y="457546"/>
                  </a:lnTo>
                  <a:lnTo>
                    <a:pt x="565532" y="484533"/>
                  </a:lnTo>
                  <a:lnTo>
                    <a:pt x="538545" y="502728"/>
                  </a:lnTo>
                  <a:lnTo>
                    <a:pt x="505498" y="509400"/>
                  </a:lnTo>
                  <a:close/>
                </a:path>
              </a:pathLst>
            </a:custGeom>
            <a:solidFill>
              <a:srgbClr val="E7EB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10986" y="2992740"/>
              <a:ext cx="590550" cy="509905"/>
            </a:xfrm>
            <a:custGeom>
              <a:avLst/>
              <a:gdLst/>
              <a:ahLst/>
              <a:cxnLst/>
              <a:rect l="l" t="t" r="r" b="b"/>
              <a:pathLst>
                <a:path w="590550" h="509904">
                  <a:moveTo>
                    <a:pt x="0" y="84901"/>
                  </a:moveTo>
                  <a:lnTo>
                    <a:pt x="6671" y="51854"/>
                  </a:lnTo>
                  <a:lnTo>
                    <a:pt x="24867" y="24867"/>
                  </a:lnTo>
                  <a:lnTo>
                    <a:pt x="51854" y="6672"/>
                  </a:lnTo>
                  <a:lnTo>
                    <a:pt x="84901" y="0"/>
                  </a:lnTo>
                  <a:lnTo>
                    <a:pt x="505498" y="0"/>
                  </a:lnTo>
                  <a:lnTo>
                    <a:pt x="552601" y="14264"/>
                  </a:lnTo>
                  <a:lnTo>
                    <a:pt x="583937" y="52411"/>
                  </a:lnTo>
                  <a:lnTo>
                    <a:pt x="590399" y="84901"/>
                  </a:lnTo>
                  <a:lnTo>
                    <a:pt x="590399" y="424498"/>
                  </a:lnTo>
                  <a:lnTo>
                    <a:pt x="583728" y="457546"/>
                  </a:lnTo>
                  <a:lnTo>
                    <a:pt x="565532" y="484533"/>
                  </a:lnTo>
                  <a:lnTo>
                    <a:pt x="538545" y="502728"/>
                  </a:lnTo>
                  <a:lnTo>
                    <a:pt x="505498" y="509400"/>
                  </a:lnTo>
                  <a:lnTo>
                    <a:pt x="84901" y="509400"/>
                  </a:lnTo>
                  <a:lnTo>
                    <a:pt x="51854" y="502728"/>
                  </a:lnTo>
                  <a:lnTo>
                    <a:pt x="24867" y="484533"/>
                  </a:lnTo>
                  <a:lnTo>
                    <a:pt x="6671" y="457546"/>
                  </a:lnTo>
                  <a:lnTo>
                    <a:pt x="0" y="424498"/>
                  </a:lnTo>
                  <a:lnTo>
                    <a:pt x="0" y="84901"/>
                  </a:lnTo>
                  <a:close/>
                </a:path>
              </a:pathLst>
            </a:custGeom>
            <a:ln w="9524">
              <a:solidFill>
                <a:srgbClr val="0F2C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158138" y="3686313"/>
            <a:ext cx="2965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40" dirty="0">
                <a:solidFill>
                  <a:srgbClr val="0F2C68"/>
                </a:solidFill>
                <a:latin typeface="Tahoma"/>
                <a:cs typeface="Tahoma"/>
              </a:rPr>
              <a:t>H3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006224" y="4193041"/>
            <a:ext cx="600075" cy="519430"/>
            <a:chOff x="1006224" y="3609515"/>
            <a:chExt cx="600075" cy="519430"/>
          </a:xfrm>
        </p:grpSpPr>
        <p:sp>
          <p:nvSpPr>
            <p:cNvPr id="20" name="object 20"/>
            <p:cNvSpPr/>
            <p:nvPr/>
          </p:nvSpPr>
          <p:spPr>
            <a:xfrm>
              <a:off x="1010986" y="3614277"/>
              <a:ext cx="590550" cy="509905"/>
            </a:xfrm>
            <a:custGeom>
              <a:avLst/>
              <a:gdLst/>
              <a:ahLst/>
              <a:cxnLst/>
              <a:rect l="l" t="t" r="r" b="b"/>
              <a:pathLst>
                <a:path w="590550" h="509904">
                  <a:moveTo>
                    <a:pt x="505498" y="509399"/>
                  </a:moveTo>
                  <a:lnTo>
                    <a:pt x="84901" y="509399"/>
                  </a:lnTo>
                  <a:lnTo>
                    <a:pt x="51854" y="502728"/>
                  </a:lnTo>
                  <a:lnTo>
                    <a:pt x="24867" y="484532"/>
                  </a:lnTo>
                  <a:lnTo>
                    <a:pt x="6671" y="457546"/>
                  </a:lnTo>
                  <a:lnTo>
                    <a:pt x="0" y="424498"/>
                  </a:lnTo>
                  <a:lnTo>
                    <a:pt x="0" y="84901"/>
                  </a:lnTo>
                  <a:lnTo>
                    <a:pt x="6671" y="51854"/>
                  </a:lnTo>
                  <a:lnTo>
                    <a:pt x="24867" y="24867"/>
                  </a:lnTo>
                  <a:lnTo>
                    <a:pt x="51854" y="6672"/>
                  </a:lnTo>
                  <a:lnTo>
                    <a:pt x="84901" y="0"/>
                  </a:lnTo>
                  <a:lnTo>
                    <a:pt x="505498" y="0"/>
                  </a:lnTo>
                  <a:lnTo>
                    <a:pt x="552601" y="14264"/>
                  </a:lnTo>
                  <a:lnTo>
                    <a:pt x="583937" y="52411"/>
                  </a:lnTo>
                  <a:lnTo>
                    <a:pt x="590399" y="84901"/>
                  </a:lnTo>
                  <a:lnTo>
                    <a:pt x="590399" y="424498"/>
                  </a:lnTo>
                  <a:lnTo>
                    <a:pt x="583728" y="457546"/>
                  </a:lnTo>
                  <a:lnTo>
                    <a:pt x="565532" y="484532"/>
                  </a:lnTo>
                  <a:lnTo>
                    <a:pt x="538545" y="502728"/>
                  </a:lnTo>
                  <a:lnTo>
                    <a:pt x="505498" y="509399"/>
                  </a:lnTo>
                  <a:close/>
                </a:path>
              </a:pathLst>
            </a:custGeom>
            <a:solidFill>
              <a:srgbClr val="E7EB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10986" y="3614277"/>
              <a:ext cx="590550" cy="509905"/>
            </a:xfrm>
            <a:custGeom>
              <a:avLst/>
              <a:gdLst/>
              <a:ahLst/>
              <a:cxnLst/>
              <a:rect l="l" t="t" r="r" b="b"/>
              <a:pathLst>
                <a:path w="590550" h="509904">
                  <a:moveTo>
                    <a:pt x="0" y="84901"/>
                  </a:moveTo>
                  <a:lnTo>
                    <a:pt x="6671" y="51854"/>
                  </a:lnTo>
                  <a:lnTo>
                    <a:pt x="24867" y="24867"/>
                  </a:lnTo>
                  <a:lnTo>
                    <a:pt x="51854" y="6672"/>
                  </a:lnTo>
                  <a:lnTo>
                    <a:pt x="84901" y="0"/>
                  </a:lnTo>
                  <a:lnTo>
                    <a:pt x="505498" y="0"/>
                  </a:lnTo>
                  <a:lnTo>
                    <a:pt x="552601" y="14264"/>
                  </a:lnTo>
                  <a:lnTo>
                    <a:pt x="583937" y="52411"/>
                  </a:lnTo>
                  <a:lnTo>
                    <a:pt x="590399" y="84901"/>
                  </a:lnTo>
                  <a:lnTo>
                    <a:pt x="590399" y="424498"/>
                  </a:lnTo>
                  <a:lnTo>
                    <a:pt x="583728" y="457546"/>
                  </a:lnTo>
                  <a:lnTo>
                    <a:pt x="565532" y="484532"/>
                  </a:lnTo>
                  <a:lnTo>
                    <a:pt x="538545" y="502728"/>
                  </a:lnTo>
                  <a:lnTo>
                    <a:pt x="505498" y="509399"/>
                  </a:lnTo>
                  <a:lnTo>
                    <a:pt x="84901" y="509399"/>
                  </a:lnTo>
                  <a:lnTo>
                    <a:pt x="51854" y="502728"/>
                  </a:lnTo>
                  <a:lnTo>
                    <a:pt x="24867" y="484532"/>
                  </a:lnTo>
                  <a:lnTo>
                    <a:pt x="6671" y="457546"/>
                  </a:lnTo>
                  <a:lnTo>
                    <a:pt x="0" y="424498"/>
                  </a:lnTo>
                  <a:lnTo>
                    <a:pt x="0" y="84901"/>
                  </a:lnTo>
                  <a:close/>
                </a:path>
              </a:pathLst>
            </a:custGeom>
            <a:ln w="9524">
              <a:solidFill>
                <a:srgbClr val="0F2C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154989" y="4307851"/>
            <a:ext cx="3022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0F2C68"/>
                </a:solidFill>
                <a:latin typeface="Tahoma"/>
                <a:cs typeface="Tahoma"/>
              </a:rPr>
              <a:t>H4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06224" y="4814570"/>
            <a:ext cx="600075" cy="519430"/>
            <a:chOff x="1006224" y="4231044"/>
            <a:chExt cx="600075" cy="519430"/>
          </a:xfrm>
        </p:grpSpPr>
        <p:sp>
          <p:nvSpPr>
            <p:cNvPr id="24" name="object 24"/>
            <p:cNvSpPr/>
            <p:nvPr/>
          </p:nvSpPr>
          <p:spPr>
            <a:xfrm>
              <a:off x="1010986" y="4235806"/>
              <a:ext cx="590550" cy="509905"/>
            </a:xfrm>
            <a:custGeom>
              <a:avLst/>
              <a:gdLst/>
              <a:ahLst/>
              <a:cxnLst/>
              <a:rect l="l" t="t" r="r" b="b"/>
              <a:pathLst>
                <a:path w="590550" h="509904">
                  <a:moveTo>
                    <a:pt x="505498" y="509399"/>
                  </a:moveTo>
                  <a:lnTo>
                    <a:pt x="84901" y="509399"/>
                  </a:lnTo>
                  <a:lnTo>
                    <a:pt x="51854" y="502728"/>
                  </a:lnTo>
                  <a:lnTo>
                    <a:pt x="24867" y="484532"/>
                  </a:lnTo>
                  <a:lnTo>
                    <a:pt x="6671" y="457545"/>
                  </a:lnTo>
                  <a:lnTo>
                    <a:pt x="0" y="424498"/>
                  </a:lnTo>
                  <a:lnTo>
                    <a:pt x="0" y="84901"/>
                  </a:lnTo>
                  <a:lnTo>
                    <a:pt x="6671" y="51854"/>
                  </a:lnTo>
                  <a:lnTo>
                    <a:pt x="24867" y="24867"/>
                  </a:lnTo>
                  <a:lnTo>
                    <a:pt x="51854" y="6672"/>
                  </a:lnTo>
                  <a:lnTo>
                    <a:pt x="84901" y="0"/>
                  </a:lnTo>
                  <a:lnTo>
                    <a:pt x="505498" y="0"/>
                  </a:lnTo>
                  <a:lnTo>
                    <a:pt x="552601" y="14264"/>
                  </a:lnTo>
                  <a:lnTo>
                    <a:pt x="583937" y="52411"/>
                  </a:lnTo>
                  <a:lnTo>
                    <a:pt x="590399" y="84901"/>
                  </a:lnTo>
                  <a:lnTo>
                    <a:pt x="590399" y="424498"/>
                  </a:lnTo>
                  <a:lnTo>
                    <a:pt x="583728" y="457545"/>
                  </a:lnTo>
                  <a:lnTo>
                    <a:pt x="565532" y="484532"/>
                  </a:lnTo>
                  <a:lnTo>
                    <a:pt x="538545" y="502728"/>
                  </a:lnTo>
                  <a:lnTo>
                    <a:pt x="505498" y="509399"/>
                  </a:lnTo>
                  <a:close/>
                </a:path>
              </a:pathLst>
            </a:custGeom>
            <a:solidFill>
              <a:srgbClr val="E7EB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10986" y="4235806"/>
              <a:ext cx="590550" cy="509905"/>
            </a:xfrm>
            <a:custGeom>
              <a:avLst/>
              <a:gdLst/>
              <a:ahLst/>
              <a:cxnLst/>
              <a:rect l="l" t="t" r="r" b="b"/>
              <a:pathLst>
                <a:path w="590550" h="509904">
                  <a:moveTo>
                    <a:pt x="0" y="84901"/>
                  </a:moveTo>
                  <a:lnTo>
                    <a:pt x="6671" y="51854"/>
                  </a:lnTo>
                  <a:lnTo>
                    <a:pt x="24867" y="24867"/>
                  </a:lnTo>
                  <a:lnTo>
                    <a:pt x="51854" y="6672"/>
                  </a:lnTo>
                  <a:lnTo>
                    <a:pt x="84901" y="0"/>
                  </a:lnTo>
                  <a:lnTo>
                    <a:pt x="505498" y="0"/>
                  </a:lnTo>
                  <a:lnTo>
                    <a:pt x="552601" y="14264"/>
                  </a:lnTo>
                  <a:lnTo>
                    <a:pt x="583937" y="52411"/>
                  </a:lnTo>
                  <a:lnTo>
                    <a:pt x="590399" y="84901"/>
                  </a:lnTo>
                  <a:lnTo>
                    <a:pt x="590399" y="424498"/>
                  </a:lnTo>
                  <a:lnTo>
                    <a:pt x="583728" y="457545"/>
                  </a:lnTo>
                  <a:lnTo>
                    <a:pt x="565532" y="484532"/>
                  </a:lnTo>
                  <a:lnTo>
                    <a:pt x="538545" y="502728"/>
                  </a:lnTo>
                  <a:lnTo>
                    <a:pt x="505498" y="509399"/>
                  </a:lnTo>
                  <a:lnTo>
                    <a:pt x="84901" y="509399"/>
                  </a:lnTo>
                  <a:lnTo>
                    <a:pt x="51854" y="502728"/>
                  </a:lnTo>
                  <a:lnTo>
                    <a:pt x="24867" y="484532"/>
                  </a:lnTo>
                  <a:lnTo>
                    <a:pt x="6671" y="457545"/>
                  </a:lnTo>
                  <a:lnTo>
                    <a:pt x="0" y="424498"/>
                  </a:lnTo>
                  <a:lnTo>
                    <a:pt x="0" y="84901"/>
                  </a:lnTo>
                  <a:close/>
                </a:path>
              </a:pathLst>
            </a:custGeom>
            <a:ln w="9524">
              <a:solidFill>
                <a:srgbClr val="0F2C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158088" y="4929379"/>
            <a:ext cx="2965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40" dirty="0">
                <a:solidFill>
                  <a:srgbClr val="0F2C68"/>
                </a:solidFill>
                <a:latin typeface="Tahoma"/>
                <a:cs typeface="Tahoma"/>
              </a:rPr>
              <a:t>H5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99575" y="2453306"/>
            <a:ext cx="837120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/>
            <a:r>
              <a:rPr lang="ru-RU" sz="1600" dirty="0">
                <a:solidFill>
                  <a:srgbClr val="0D2C69"/>
                </a:solidFill>
                <a:latin typeface="Calibri"/>
                <a:cs typeface="Calibri"/>
              </a:rPr>
              <a:t>Теоретическая структура ценностей Шварца воспроизводится на европейской выборке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1899562" y="3074818"/>
            <a:ext cx="854011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/>
            <a:r>
              <a:rPr lang="ru-RU" sz="1600" dirty="0">
                <a:solidFill>
                  <a:srgbClr val="0D2C69"/>
                </a:solidFill>
                <a:latin typeface="Calibri"/>
                <a:cs typeface="Calibri"/>
              </a:rPr>
              <a:t>Структура ценностей одинакова в каждой из 29 стран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1899562" y="3582043"/>
            <a:ext cx="87966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 rtl="0">
              <a:spcBef>
                <a:spcPts val="100"/>
              </a:spcBef>
            </a:pPr>
            <a:r>
              <a:rPr lang="ru-RU" sz="1600" dirty="0">
                <a:solidFill>
                  <a:srgbClr val="0D2C69"/>
                </a:solidFill>
                <a:latin typeface="Calibri"/>
                <a:cs typeface="Calibri"/>
              </a:rPr>
              <a:t>Уровень доверия человека зависит не только от его личных характеристик, но и от страны, в которой он живёт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1899575" y="4203581"/>
            <a:ext cx="89420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/>
            <a:r>
              <a:rPr lang="ru-RU" sz="1600" dirty="0" err="1">
                <a:solidFill>
                  <a:srgbClr val="0D2C69"/>
                </a:solidFill>
                <a:latin typeface="Calibri"/>
                <a:cs typeface="Calibri"/>
              </a:rPr>
              <a:t>Самотрансценденция</a:t>
            </a:r>
            <a:r>
              <a:rPr lang="ru-RU" sz="1600" dirty="0">
                <a:solidFill>
                  <a:srgbClr val="0D2C69"/>
                </a:solidFill>
                <a:latin typeface="Calibri"/>
                <a:cs typeface="Calibri"/>
              </a:rPr>
              <a:t> влияет положительно на уровень доверия, а ориентация на стабильность и самоутверждение отрицательно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1899575" y="4939405"/>
            <a:ext cx="774192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/>
            <a:r>
              <a:rPr lang="ru-RU" sz="1600" dirty="0">
                <a:solidFill>
                  <a:srgbClr val="0D2C69"/>
                </a:solidFill>
                <a:latin typeface="Calibri"/>
                <a:cs typeface="Calibri"/>
              </a:rPr>
              <a:t>ВВП, социальное неравенство, коррупция влияют на доверие на страновом уровне </a:t>
            </a:r>
            <a:endParaRPr lang="ru-RU" sz="1600" spc="-10" dirty="0">
              <a:solidFill>
                <a:srgbClr val="0D2C69"/>
              </a:solidFill>
              <a:latin typeface="Calibri"/>
              <a:cs typeface="Calibr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848149" y="2883375"/>
            <a:ext cx="9139555" cy="14604"/>
          </a:xfrm>
          <a:custGeom>
            <a:avLst/>
            <a:gdLst/>
            <a:ahLst/>
            <a:cxnLst/>
            <a:rect l="l" t="t" r="r" b="b"/>
            <a:pathLst>
              <a:path w="9139555" h="14605">
                <a:moveTo>
                  <a:pt x="0" y="14399"/>
                </a:moveTo>
                <a:lnTo>
                  <a:pt x="9139199" y="0"/>
                </a:lnTo>
              </a:path>
            </a:pathLst>
          </a:custGeom>
          <a:ln w="9524">
            <a:solidFill>
              <a:srgbClr val="0F2C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554299" y="1249017"/>
            <a:ext cx="3500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45" dirty="0">
                <a:solidFill>
                  <a:srgbClr val="0F2C68"/>
                </a:solidFill>
                <a:latin typeface="Tahoma"/>
                <a:cs typeface="Tahoma"/>
              </a:rPr>
              <a:t>Гипотезы</a:t>
            </a:r>
            <a:r>
              <a:rPr sz="2400" b="1" spc="-170" dirty="0">
                <a:solidFill>
                  <a:srgbClr val="0F2C68"/>
                </a:solidFill>
                <a:latin typeface="Tahoma"/>
                <a:cs typeface="Tahoma"/>
              </a:rPr>
              <a:t> </a:t>
            </a:r>
            <a:r>
              <a:rPr sz="2400" b="1" spc="-130" dirty="0">
                <a:solidFill>
                  <a:srgbClr val="0F2C68"/>
                </a:solidFill>
                <a:latin typeface="Tahoma"/>
                <a:cs typeface="Tahoma"/>
              </a:rPr>
              <a:t>исследования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848149" y="3513013"/>
            <a:ext cx="9139555" cy="14604"/>
          </a:xfrm>
          <a:custGeom>
            <a:avLst/>
            <a:gdLst/>
            <a:ahLst/>
            <a:cxnLst/>
            <a:rect l="l" t="t" r="r" b="b"/>
            <a:pathLst>
              <a:path w="9139555" h="14605">
                <a:moveTo>
                  <a:pt x="0" y="14399"/>
                </a:moveTo>
                <a:lnTo>
                  <a:pt x="9139199" y="0"/>
                </a:lnTo>
              </a:path>
            </a:pathLst>
          </a:custGeom>
          <a:ln w="9524">
            <a:solidFill>
              <a:srgbClr val="0F2C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848149" y="4142638"/>
            <a:ext cx="9139555" cy="14604"/>
          </a:xfrm>
          <a:custGeom>
            <a:avLst/>
            <a:gdLst/>
            <a:ahLst/>
            <a:cxnLst/>
            <a:rect l="l" t="t" r="r" b="b"/>
            <a:pathLst>
              <a:path w="9139555" h="14604">
                <a:moveTo>
                  <a:pt x="0" y="14399"/>
                </a:moveTo>
                <a:lnTo>
                  <a:pt x="9139199" y="0"/>
                </a:lnTo>
              </a:path>
            </a:pathLst>
          </a:custGeom>
          <a:ln w="9524">
            <a:solidFill>
              <a:srgbClr val="0F2C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848149" y="4768213"/>
            <a:ext cx="9139555" cy="14604"/>
          </a:xfrm>
          <a:custGeom>
            <a:avLst/>
            <a:gdLst/>
            <a:ahLst/>
            <a:cxnLst/>
            <a:rect l="l" t="t" r="r" b="b"/>
            <a:pathLst>
              <a:path w="9139555" h="14604">
                <a:moveTo>
                  <a:pt x="0" y="14399"/>
                </a:moveTo>
                <a:lnTo>
                  <a:pt x="9139199" y="0"/>
                </a:lnTo>
              </a:path>
            </a:pathLst>
          </a:custGeom>
          <a:ln w="9524">
            <a:solidFill>
              <a:srgbClr val="0F2C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">
            <a:extLst>
              <a:ext uri="{FF2B5EF4-FFF2-40B4-BE49-F238E27FC236}">
                <a16:creationId xmlns:a16="http://schemas.microsoft.com/office/drawing/2014/main" id="{842DACCD-CFBB-0573-5BF9-94D3F2B7A9D5}"/>
              </a:ext>
            </a:extLst>
          </p:cNvPr>
          <p:cNvSpPr txBox="1"/>
          <p:nvPr/>
        </p:nvSpPr>
        <p:spPr>
          <a:xfrm>
            <a:off x="3436023" y="422626"/>
            <a:ext cx="211612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1000" spc="-10" dirty="0">
                <a:solidFill>
                  <a:srgbClr val="0D2C69"/>
                </a:solidFill>
                <a:latin typeface="Calibri"/>
                <a:cs typeface="Calibri"/>
              </a:rPr>
              <a:t>Ценности и личностные приоритеты граждан Европы: кросс-национальный анализ структуры базовых ценностей на данных </a:t>
            </a:r>
            <a:r>
              <a:rPr lang="en" sz="1000" spc="-10" dirty="0">
                <a:solidFill>
                  <a:srgbClr val="0D2C69"/>
                </a:solidFill>
                <a:latin typeface="Calibri"/>
                <a:cs typeface="Calibri"/>
              </a:rPr>
              <a:t>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97500" y="509418"/>
            <a:ext cx="3079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solidFill>
                  <a:srgbClr val="102D68"/>
                </a:solidFill>
                <a:latin typeface="Microsoft Sans Serif"/>
                <a:cs typeface="Microsoft Sans Serif"/>
              </a:rPr>
              <a:t>10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643868" y="464362"/>
            <a:ext cx="0" cy="586740"/>
          </a:xfrm>
          <a:custGeom>
            <a:avLst/>
            <a:gdLst/>
            <a:ahLst/>
            <a:cxnLst/>
            <a:rect l="l" t="t" r="r" b="b"/>
            <a:pathLst>
              <a:path h="586740">
                <a:moveTo>
                  <a:pt x="0" y="0"/>
                </a:moveTo>
                <a:lnTo>
                  <a:pt x="0" y="586259"/>
                </a:lnTo>
              </a:path>
            </a:pathLst>
          </a:custGeom>
          <a:ln w="12699">
            <a:solidFill>
              <a:srgbClr val="102D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5949" y="1749699"/>
            <a:ext cx="3857625" cy="675762"/>
          </a:xfrm>
          <a:prstGeom prst="rect">
            <a:avLst/>
          </a:prstGeom>
          <a:ln w="28574">
            <a:solidFill>
              <a:srgbClr val="4472C4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265430">
              <a:lnSpc>
                <a:spcPct val="100000"/>
              </a:lnSpc>
              <a:spcBef>
                <a:spcPts val="610"/>
              </a:spcBef>
            </a:pPr>
            <a:r>
              <a:rPr lang="ru-RU" sz="1600" b="1" spc="-100" dirty="0">
                <a:solidFill>
                  <a:srgbClr val="14419B"/>
                </a:solidFill>
                <a:latin typeface="Tahoma"/>
                <a:cs typeface="Tahoma"/>
              </a:rPr>
              <a:t>Целевая</a:t>
            </a:r>
            <a:r>
              <a:rPr sz="1600" b="1" spc="-110" dirty="0">
                <a:solidFill>
                  <a:srgbClr val="14419B"/>
                </a:solidFill>
                <a:latin typeface="Tahoma"/>
                <a:cs typeface="Tahoma"/>
              </a:rPr>
              <a:t> </a:t>
            </a:r>
            <a:r>
              <a:rPr sz="1600" b="1" spc="-25" dirty="0" err="1">
                <a:solidFill>
                  <a:srgbClr val="14419B"/>
                </a:solidFill>
                <a:latin typeface="Tahoma"/>
                <a:cs typeface="Tahoma"/>
              </a:rPr>
              <a:t>переменн</a:t>
            </a:r>
            <a:r>
              <a:rPr lang="ru-RU" sz="1600" b="1" spc="-25" dirty="0" err="1">
                <a:solidFill>
                  <a:srgbClr val="14419B"/>
                </a:solidFill>
                <a:latin typeface="Tahoma"/>
                <a:cs typeface="Tahoma"/>
              </a:rPr>
              <a:t>ая</a:t>
            </a:r>
            <a:r>
              <a:rPr sz="1600" b="1" spc="-25" dirty="0">
                <a:solidFill>
                  <a:srgbClr val="14419B"/>
                </a:solidFill>
                <a:latin typeface="Tahoma"/>
                <a:cs typeface="Tahoma"/>
              </a:rPr>
              <a:t>:</a:t>
            </a:r>
            <a:endParaRPr sz="1600" dirty="0">
              <a:latin typeface="Tahoma"/>
              <a:cs typeface="Tahoma"/>
            </a:endParaRPr>
          </a:p>
          <a:p>
            <a:pPr marL="206375" marR="389890">
              <a:lnSpc>
                <a:spcPct val="114999"/>
              </a:lnSpc>
              <a:spcBef>
                <a:spcPts val="955"/>
              </a:spcBef>
              <a:tabLst>
                <a:tab pos="542925" algn="l"/>
              </a:tabLst>
            </a:pPr>
            <a:r>
              <a:rPr lang="en" sz="1400" b="1" i="1" spc="-150" dirty="0" err="1">
                <a:solidFill>
                  <a:srgbClr val="14419B"/>
                </a:solidFill>
                <a:latin typeface="Verdana"/>
                <a:cs typeface="Verdana"/>
              </a:rPr>
              <a:t>Ppltrst</a:t>
            </a:r>
            <a:r>
              <a:rPr lang="ru-RU" sz="1400" b="1" i="1" spc="-150" dirty="0">
                <a:solidFill>
                  <a:srgbClr val="14419B"/>
                </a:solidFill>
                <a:latin typeface="Verdana"/>
                <a:cs typeface="Verdana"/>
              </a:rPr>
              <a:t> – </a:t>
            </a:r>
            <a:r>
              <a:rPr lang="ru-RU" sz="1400" spc="-40" dirty="0">
                <a:solidFill>
                  <a:srgbClr val="14419B"/>
                </a:solidFill>
                <a:latin typeface="Verdana"/>
                <a:cs typeface="Verdana"/>
              </a:rPr>
              <a:t>доверие к людям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0989" y="523123"/>
            <a:ext cx="177418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000" dirty="0">
                <a:solidFill>
                  <a:srgbClr val="0D2C69"/>
                </a:solidFill>
                <a:latin typeface="Calibri"/>
                <a:cs typeface="Calibri"/>
              </a:rPr>
              <a:t>Анализ больших данных</a:t>
            </a:r>
            <a:endParaRPr lang="ru-RU" sz="1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47191" y="530940"/>
            <a:ext cx="78930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000" spc="-55" dirty="0">
                <a:solidFill>
                  <a:srgbClr val="0D2D68"/>
                </a:solidFill>
                <a:latin typeface="Verdana"/>
                <a:cs typeface="Verdana"/>
              </a:rPr>
              <a:t>Данные</a:t>
            </a:r>
            <a:endParaRPr sz="1000" dirty="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62056" y="1754681"/>
            <a:ext cx="3909351" cy="4036322"/>
          </a:xfrm>
          <a:custGeom>
            <a:avLst/>
            <a:gdLst/>
            <a:ahLst/>
            <a:cxnLst/>
            <a:rect l="l" t="t" r="r" b="b"/>
            <a:pathLst>
              <a:path w="7583170" h="4356100">
                <a:moveTo>
                  <a:pt x="0" y="0"/>
                </a:moveTo>
                <a:lnTo>
                  <a:pt x="7583099" y="0"/>
                </a:lnTo>
                <a:lnTo>
                  <a:pt x="7583099" y="4355999"/>
                </a:lnTo>
                <a:lnTo>
                  <a:pt x="0" y="4355999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915081" y="1819578"/>
            <a:ext cx="3122926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600" b="1" spc="-100" dirty="0">
                <a:solidFill>
                  <a:srgbClr val="14419B"/>
                </a:solidFill>
                <a:latin typeface="Tahoma"/>
                <a:cs typeface="Tahoma"/>
              </a:rPr>
              <a:t>Десять первичных ценностей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75894" y="2108032"/>
            <a:ext cx="3780378" cy="3644587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47980" indent="-335280" algn="l">
              <a:spcBef>
                <a:spcPts val="940"/>
              </a:spcBef>
              <a:buFont typeface="Microsoft Sans Serif"/>
              <a:buChar char="●"/>
              <a:tabLst>
                <a:tab pos="347980" algn="l"/>
              </a:tabLst>
            </a:pPr>
            <a:r>
              <a:rPr lang="en" sz="1400" b="1" spc="-85" dirty="0">
                <a:solidFill>
                  <a:srgbClr val="14419B"/>
                </a:solidFill>
                <a:latin typeface="Tahoma"/>
                <a:cs typeface="Tahoma"/>
              </a:rPr>
              <a:t>Self-Direction (</a:t>
            </a:r>
            <a:r>
              <a:rPr lang="ru-RU" sz="1400" b="1" spc="-85" dirty="0">
                <a:solidFill>
                  <a:srgbClr val="14419B"/>
                </a:solidFill>
                <a:latin typeface="Tahoma"/>
                <a:cs typeface="Tahoma"/>
              </a:rPr>
              <a:t>самостоятельность) - </a:t>
            </a:r>
            <a:r>
              <a:rPr lang="en" sz="1400" b="1" spc="-85" dirty="0">
                <a:solidFill>
                  <a:srgbClr val="14419B"/>
                </a:solidFill>
                <a:latin typeface="Tahoma"/>
                <a:cs typeface="Tahoma"/>
              </a:rPr>
              <a:t>SD</a:t>
            </a:r>
          </a:p>
          <a:p>
            <a:pPr marL="347980" indent="-335280" algn="l">
              <a:spcBef>
                <a:spcPts val="940"/>
              </a:spcBef>
              <a:buFont typeface="Microsoft Sans Serif"/>
              <a:buChar char="●"/>
              <a:tabLst>
                <a:tab pos="347980" algn="l"/>
              </a:tabLst>
            </a:pPr>
            <a:r>
              <a:rPr lang="en" sz="1400" b="1" spc="-85" dirty="0">
                <a:solidFill>
                  <a:srgbClr val="14419B"/>
                </a:solidFill>
                <a:latin typeface="Tahoma"/>
                <a:cs typeface="Tahoma"/>
              </a:rPr>
              <a:t>Stimulation (</a:t>
            </a:r>
            <a:r>
              <a:rPr lang="ru-RU" sz="1400" b="1" spc="-85" dirty="0">
                <a:solidFill>
                  <a:srgbClr val="14419B"/>
                </a:solidFill>
                <a:latin typeface="Tahoma"/>
                <a:cs typeface="Tahoma"/>
              </a:rPr>
              <a:t>стимуляция) - </a:t>
            </a:r>
            <a:r>
              <a:rPr lang="en" sz="1400" b="1" spc="-85" dirty="0">
                <a:solidFill>
                  <a:srgbClr val="14419B"/>
                </a:solidFill>
                <a:latin typeface="Tahoma"/>
                <a:cs typeface="Tahoma"/>
              </a:rPr>
              <a:t>ST</a:t>
            </a:r>
          </a:p>
          <a:p>
            <a:pPr marL="347980" indent="-335280" algn="l">
              <a:spcBef>
                <a:spcPts val="940"/>
              </a:spcBef>
              <a:buFont typeface="Microsoft Sans Serif"/>
              <a:buChar char="●"/>
              <a:tabLst>
                <a:tab pos="347980" algn="l"/>
              </a:tabLst>
            </a:pPr>
            <a:r>
              <a:rPr lang="en" sz="1400" b="1" spc="-85" dirty="0">
                <a:solidFill>
                  <a:srgbClr val="14419B"/>
                </a:solidFill>
                <a:latin typeface="Tahoma"/>
                <a:cs typeface="Tahoma"/>
              </a:rPr>
              <a:t>Hedonism (</a:t>
            </a:r>
            <a:r>
              <a:rPr lang="ru-RU" sz="1400" b="1" spc="-85" dirty="0">
                <a:solidFill>
                  <a:srgbClr val="14419B"/>
                </a:solidFill>
                <a:latin typeface="Tahoma"/>
                <a:cs typeface="Tahoma"/>
              </a:rPr>
              <a:t>гедонизм) - </a:t>
            </a:r>
            <a:r>
              <a:rPr lang="en" sz="1400" b="1" spc="-85" dirty="0">
                <a:solidFill>
                  <a:srgbClr val="14419B"/>
                </a:solidFill>
                <a:latin typeface="Tahoma"/>
                <a:cs typeface="Tahoma"/>
              </a:rPr>
              <a:t>HE</a:t>
            </a:r>
          </a:p>
          <a:p>
            <a:pPr marL="347980" indent="-335280" algn="l">
              <a:spcBef>
                <a:spcPts val="940"/>
              </a:spcBef>
              <a:buFont typeface="Microsoft Sans Serif"/>
              <a:buChar char="●"/>
              <a:tabLst>
                <a:tab pos="347980" algn="l"/>
              </a:tabLst>
            </a:pPr>
            <a:r>
              <a:rPr lang="en" sz="1400" b="1" spc="-85" dirty="0">
                <a:solidFill>
                  <a:srgbClr val="14419B"/>
                </a:solidFill>
                <a:latin typeface="Tahoma"/>
                <a:cs typeface="Tahoma"/>
              </a:rPr>
              <a:t>Achievement (</a:t>
            </a:r>
            <a:r>
              <a:rPr lang="ru-RU" sz="1400" b="1" spc="-85" dirty="0">
                <a:solidFill>
                  <a:srgbClr val="14419B"/>
                </a:solidFill>
                <a:latin typeface="Tahoma"/>
                <a:cs typeface="Tahoma"/>
              </a:rPr>
              <a:t>достижения) - </a:t>
            </a:r>
            <a:r>
              <a:rPr lang="en" sz="1400" b="1" spc="-85" dirty="0">
                <a:solidFill>
                  <a:srgbClr val="14419B"/>
                </a:solidFill>
                <a:latin typeface="Tahoma"/>
                <a:cs typeface="Tahoma"/>
              </a:rPr>
              <a:t>AC</a:t>
            </a:r>
          </a:p>
          <a:p>
            <a:pPr marL="347980" indent="-335280" algn="l">
              <a:spcBef>
                <a:spcPts val="940"/>
              </a:spcBef>
              <a:buFont typeface="Microsoft Sans Serif"/>
              <a:buChar char="●"/>
              <a:tabLst>
                <a:tab pos="347980" algn="l"/>
              </a:tabLst>
            </a:pPr>
            <a:r>
              <a:rPr lang="en" sz="1400" b="1" spc="-85" dirty="0">
                <a:solidFill>
                  <a:srgbClr val="14419B"/>
                </a:solidFill>
                <a:latin typeface="Tahoma"/>
                <a:cs typeface="Tahoma"/>
              </a:rPr>
              <a:t>Power (</a:t>
            </a:r>
            <a:r>
              <a:rPr lang="ru-RU" sz="1400" b="1" spc="-85" dirty="0">
                <a:solidFill>
                  <a:srgbClr val="14419B"/>
                </a:solidFill>
                <a:latin typeface="Tahoma"/>
                <a:cs typeface="Tahoma"/>
              </a:rPr>
              <a:t>власть) - </a:t>
            </a:r>
            <a:r>
              <a:rPr lang="en" sz="1400" b="1" spc="-85" dirty="0">
                <a:solidFill>
                  <a:srgbClr val="14419B"/>
                </a:solidFill>
                <a:latin typeface="Tahoma"/>
                <a:cs typeface="Tahoma"/>
              </a:rPr>
              <a:t>PO</a:t>
            </a:r>
          </a:p>
          <a:p>
            <a:pPr marL="347980" indent="-335280" algn="l">
              <a:spcBef>
                <a:spcPts val="940"/>
              </a:spcBef>
              <a:buFont typeface="Microsoft Sans Serif"/>
              <a:buChar char="●"/>
              <a:tabLst>
                <a:tab pos="347980" algn="l"/>
              </a:tabLst>
            </a:pPr>
            <a:r>
              <a:rPr lang="en" sz="1400" b="1" spc="-85" dirty="0">
                <a:solidFill>
                  <a:srgbClr val="14419B"/>
                </a:solidFill>
                <a:latin typeface="Tahoma"/>
                <a:cs typeface="Tahoma"/>
              </a:rPr>
              <a:t>Security (</a:t>
            </a:r>
            <a:r>
              <a:rPr lang="ru-RU" sz="1400" b="1" spc="-85" dirty="0">
                <a:solidFill>
                  <a:srgbClr val="14419B"/>
                </a:solidFill>
                <a:latin typeface="Tahoma"/>
                <a:cs typeface="Tahoma"/>
              </a:rPr>
              <a:t>безопасность) - </a:t>
            </a:r>
            <a:r>
              <a:rPr lang="en" sz="1400" b="1" spc="-85" dirty="0">
                <a:solidFill>
                  <a:srgbClr val="14419B"/>
                </a:solidFill>
                <a:latin typeface="Tahoma"/>
                <a:cs typeface="Tahoma"/>
              </a:rPr>
              <a:t>SE</a:t>
            </a:r>
          </a:p>
          <a:p>
            <a:pPr marL="347980" indent="-335280" algn="l">
              <a:spcBef>
                <a:spcPts val="940"/>
              </a:spcBef>
              <a:buFont typeface="Microsoft Sans Serif"/>
              <a:buChar char="●"/>
              <a:tabLst>
                <a:tab pos="347980" algn="l"/>
              </a:tabLst>
            </a:pPr>
            <a:r>
              <a:rPr lang="en" sz="1400" b="1" spc="-85" dirty="0">
                <a:solidFill>
                  <a:srgbClr val="14419B"/>
                </a:solidFill>
                <a:latin typeface="Tahoma"/>
                <a:cs typeface="Tahoma"/>
              </a:rPr>
              <a:t>Conformity (</a:t>
            </a:r>
            <a:r>
              <a:rPr lang="ru-RU" sz="1400" b="1" spc="-85" dirty="0">
                <a:solidFill>
                  <a:srgbClr val="14419B"/>
                </a:solidFill>
                <a:latin typeface="Tahoma"/>
                <a:cs typeface="Tahoma"/>
              </a:rPr>
              <a:t>конформизм) - </a:t>
            </a:r>
            <a:r>
              <a:rPr lang="en" sz="1400" b="1" spc="-85" dirty="0">
                <a:solidFill>
                  <a:srgbClr val="14419B"/>
                </a:solidFill>
                <a:latin typeface="Tahoma"/>
                <a:cs typeface="Tahoma"/>
              </a:rPr>
              <a:t>CO</a:t>
            </a:r>
          </a:p>
          <a:p>
            <a:pPr marL="347980" indent="-335280" algn="l">
              <a:spcBef>
                <a:spcPts val="940"/>
              </a:spcBef>
              <a:buFont typeface="Microsoft Sans Serif"/>
              <a:buChar char="●"/>
              <a:tabLst>
                <a:tab pos="347980" algn="l"/>
              </a:tabLst>
            </a:pPr>
            <a:r>
              <a:rPr lang="en" sz="1400" b="1" spc="-85" dirty="0">
                <a:solidFill>
                  <a:srgbClr val="14419B"/>
                </a:solidFill>
                <a:latin typeface="Tahoma"/>
                <a:cs typeface="Tahoma"/>
              </a:rPr>
              <a:t>Tradition (</a:t>
            </a:r>
            <a:r>
              <a:rPr lang="ru-RU" sz="1400" b="1" spc="-85" dirty="0">
                <a:solidFill>
                  <a:srgbClr val="14419B"/>
                </a:solidFill>
                <a:latin typeface="Tahoma"/>
                <a:cs typeface="Tahoma"/>
              </a:rPr>
              <a:t>традиция) - </a:t>
            </a:r>
            <a:r>
              <a:rPr lang="en" sz="1400" b="1" spc="-85" dirty="0">
                <a:solidFill>
                  <a:srgbClr val="14419B"/>
                </a:solidFill>
                <a:latin typeface="Tahoma"/>
                <a:cs typeface="Tahoma"/>
              </a:rPr>
              <a:t>TR</a:t>
            </a:r>
          </a:p>
          <a:p>
            <a:pPr marL="347980" indent="-335280" algn="l">
              <a:spcBef>
                <a:spcPts val="940"/>
              </a:spcBef>
              <a:buFont typeface="Microsoft Sans Serif"/>
              <a:buChar char="●"/>
              <a:tabLst>
                <a:tab pos="347980" algn="l"/>
              </a:tabLst>
            </a:pPr>
            <a:r>
              <a:rPr lang="en" sz="1400" b="1" spc="-85" dirty="0">
                <a:solidFill>
                  <a:srgbClr val="14419B"/>
                </a:solidFill>
                <a:latin typeface="Tahoma"/>
                <a:cs typeface="Tahoma"/>
              </a:rPr>
              <a:t>Benevolence (</a:t>
            </a:r>
            <a:r>
              <a:rPr lang="ru-RU" sz="1400" b="1" spc="-85" dirty="0">
                <a:solidFill>
                  <a:srgbClr val="14419B"/>
                </a:solidFill>
                <a:latin typeface="Tahoma"/>
                <a:cs typeface="Tahoma"/>
              </a:rPr>
              <a:t>благожелательность) - </a:t>
            </a:r>
            <a:r>
              <a:rPr lang="en" sz="1400" b="1" spc="-85" dirty="0">
                <a:solidFill>
                  <a:srgbClr val="14419B"/>
                </a:solidFill>
                <a:latin typeface="Tahoma"/>
                <a:cs typeface="Tahoma"/>
              </a:rPr>
              <a:t>BE</a:t>
            </a:r>
          </a:p>
          <a:p>
            <a:pPr marL="347980" indent="-335280" algn="l">
              <a:spcBef>
                <a:spcPts val="940"/>
              </a:spcBef>
              <a:buFont typeface="Microsoft Sans Serif"/>
              <a:buChar char="●"/>
              <a:tabLst>
                <a:tab pos="347980" algn="l"/>
              </a:tabLst>
            </a:pPr>
            <a:r>
              <a:rPr lang="en" sz="1400" b="1" spc="-85" dirty="0">
                <a:solidFill>
                  <a:srgbClr val="14419B"/>
                </a:solidFill>
                <a:latin typeface="Tahoma"/>
                <a:cs typeface="Tahoma"/>
              </a:rPr>
              <a:t>Universalism (</a:t>
            </a:r>
            <a:r>
              <a:rPr lang="ru-RU" sz="1400" b="1" spc="-85" dirty="0">
                <a:solidFill>
                  <a:srgbClr val="14419B"/>
                </a:solidFill>
                <a:latin typeface="Tahoma"/>
                <a:cs typeface="Tahoma"/>
              </a:rPr>
              <a:t>универсализм) – </a:t>
            </a:r>
            <a:r>
              <a:rPr lang="en" sz="1400" b="1" spc="-85" dirty="0">
                <a:solidFill>
                  <a:srgbClr val="14419B"/>
                </a:solidFill>
                <a:latin typeface="Tahoma"/>
                <a:cs typeface="Tahoma"/>
              </a:rPr>
              <a:t>UN</a:t>
            </a:r>
            <a:endParaRPr lang="ru-RU" sz="1400" b="1" spc="-85" dirty="0">
              <a:solidFill>
                <a:srgbClr val="14419B"/>
              </a:solidFill>
              <a:latin typeface="Tahoma"/>
              <a:cs typeface="Tahoma"/>
            </a:endParaRPr>
          </a:p>
          <a:p>
            <a:pPr marL="12700" algn="l">
              <a:spcBef>
                <a:spcPts val="940"/>
              </a:spcBef>
              <a:tabLst>
                <a:tab pos="347980" algn="l"/>
              </a:tabLst>
            </a:pPr>
            <a:endParaRPr lang="en" sz="1400" b="1" spc="-85" dirty="0">
              <a:solidFill>
                <a:srgbClr val="14419B"/>
              </a:solidFill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5949" y="2534983"/>
            <a:ext cx="3857625" cy="3256020"/>
          </a:xfrm>
          <a:prstGeom prst="rect">
            <a:avLst/>
          </a:prstGeom>
          <a:ln w="28574">
            <a:solidFill>
              <a:srgbClr val="4472C4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265430">
              <a:lnSpc>
                <a:spcPct val="100000"/>
              </a:lnSpc>
              <a:spcBef>
                <a:spcPts val="610"/>
              </a:spcBef>
            </a:pPr>
            <a:r>
              <a:rPr lang="ru-RU" sz="1600" b="1" spc="-95" dirty="0">
                <a:solidFill>
                  <a:srgbClr val="14419B"/>
                </a:solidFill>
                <a:latin typeface="Tahoma"/>
                <a:cs typeface="Tahoma"/>
              </a:rPr>
              <a:t>Страновые показатели:</a:t>
            </a:r>
          </a:p>
          <a:p>
            <a:pPr marL="347980" indent="-335280" algn="l">
              <a:spcBef>
                <a:spcPts val="940"/>
              </a:spcBef>
              <a:buFont typeface="Microsoft Sans Serif"/>
              <a:buChar char="●"/>
              <a:tabLst>
                <a:tab pos="347980" algn="l"/>
              </a:tabLst>
            </a:pPr>
            <a:r>
              <a:rPr lang="en" sz="1400" b="1" spc="-85" dirty="0">
                <a:solidFill>
                  <a:srgbClr val="14419B"/>
                </a:solidFill>
                <a:latin typeface="Tahoma"/>
                <a:cs typeface="Tahoma"/>
              </a:rPr>
              <a:t>GDP per capita PPP (World Bank, NY.GDP.PCAP.PP.CD) - </a:t>
            </a:r>
            <a:r>
              <a:rPr lang="ru-RU" sz="1400" spc="-85" dirty="0">
                <a:solidFill>
                  <a:srgbClr val="14419B"/>
                </a:solidFill>
                <a:latin typeface="Tahoma"/>
                <a:cs typeface="Tahoma"/>
              </a:rPr>
              <a:t>валовой внутренний продукт на душу населения по паритету покупательной способности (</a:t>
            </a:r>
            <a:r>
              <a:rPr lang="en" sz="1400" spc="-85" dirty="0">
                <a:solidFill>
                  <a:srgbClr val="14419B"/>
                </a:solidFill>
                <a:latin typeface="Tahoma"/>
                <a:cs typeface="Tahoma"/>
              </a:rPr>
              <a:t>PPP, purchasing power parity). </a:t>
            </a:r>
            <a:r>
              <a:rPr lang="ru-RU" sz="1400" spc="-85" dirty="0">
                <a:solidFill>
                  <a:srgbClr val="14419B"/>
                </a:solidFill>
                <a:latin typeface="Tahoma"/>
                <a:cs typeface="Tahoma"/>
              </a:rPr>
              <a:t>Характеристика экономического благосостояния.</a:t>
            </a:r>
          </a:p>
          <a:p>
            <a:pPr marL="347980" indent="-335280" algn="l">
              <a:spcBef>
                <a:spcPts val="940"/>
              </a:spcBef>
              <a:buFont typeface="Microsoft Sans Serif"/>
              <a:buChar char="●"/>
              <a:tabLst>
                <a:tab pos="347980" algn="l"/>
              </a:tabLst>
            </a:pPr>
            <a:r>
              <a:rPr lang="en" sz="1400" b="1" spc="-85" dirty="0">
                <a:solidFill>
                  <a:srgbClr val="14419B"/>
                </a:solidFill>
                <a:latin typeface="Tahoma"/>
                <a:cs typeface="Tahoma"/>
              </a:rPr>
              <a:t>Gini index (World Bank, SI.POV.GINI) - </a:t>
            </a:r>
            <a:r>
              <a:rPr lang="ru-RU" sz="1400" spc="-85" dirty="0">
                <a:solidFill>
                  <a:srgbClr val="14419B"/>
                </a:solidFill>
                <a:latin typeface="Tahoma"/>
                <a:cs typeface="Tahoma"/>
              </a:rPr>
              <a:t>индекс Джини, уровень неравенства доходов.</a:t>
            </a:r>
          </a:p>
          <a:p>
            <a:pPr marL="347980" indent="-335280" algn="l">
              <a:spcBef>
                <a:spcPts val="940"/>
              </a:spcBef>
              <a:buFont typeface="Microsoft Sans Serif"/>
              <a:buChar char="●"/>
              <a:tabLst>
                <a:tab pos="347980" algn="l"/>
              </a:tabLst>
            </a:pPr>
            <a:r>
              <a:rPr lang="en" sz="1400" b="1" spc="-85" dirty="0">
                <a:solidFill>
                  <a:srgbClr val="14419B"/>
                </a:solidFill>
                <a:latin typeface="Tahoma"/>
                <a:cs typeface="Tahoma"/>
              </a:rPr>
              <a:t>Corruption Perceptions Index (Transparency International) - </a:t>
            </a:r>
            <a:r>
              <a:rPr lang="ru-RU" sz="1400" spc="-85" dirty="0">
                <a:solidFill>
                  <a:srgbClr val="14419B"/>
                </a:solidFill>
                <a:latin typeface="Tahoma"/>
                <a:cs typeface="Tahoma"/>
              </a:rPr>
              <a:t>индекс восприятия коррупции, экспертная оценка чистоты институтов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F5B327-3F3B-E91F-601B-A9D197215B6E}"/>
              </a:ext>
            </a:extLst>
          </p:cNvPr>
          <p:cNvSpPr txBox="1"/>
          <p:nvPr/>
        </p:nvSpPr>
        <p:spPr>
          <a:xfrm>
            <a:off x="533400" y="5791003"/>
            <a:ext cx="3972241" cy="7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ru-RU" sz="1200" spc="-85" dirty="0">
                <a:solidFill>
                  <a:srgbClr val="14419B"/>
                </a:solidFill>
                <a:latin typeface="Tahoma"/>
                <a:cs typeface="Tahoma"/>
              </a:rPr>
              <a:t>Источники:</a:t>
            </a:r>
          </a:p>
          <a:p>
            <a:pPr marL="12700">
              <a:spcBef>
                <a:spcPts val="100"/>
              </a:spcBef>
            </a:pPr>
            <a:r>
              <a:rPr lang="en" sz="1000" b="1" spc="-85" dirty="0">
                <a:solidFill>
                  <a:srgbClr val="14419B"/>
                </a:solidFill>
                <a:latin typeface="Tahoma"/>
                <a:cs typeface="Tahoma"/>
              </a:rPr>
              <a:t>GDP per capita PPP:</a:t>
            </a:r>
            <a:r>
              <a:rPr lang="ru-RU" sz="1000" spc="-85" dirty="0">
                <a:solidFill>
                  <a:srgbClr val="14419B"/>
                </a:solidFill>
                <a:latin typeface="Tahoma"/>
                <a:cs typeface="Tahoma"/>
              </a:rPr>
              <a:t> </a:t>
            </a:r>
            <a:r>
              <a:rPr lang="en" sz="1000" spc="-85" dirty="0">
                <a:solidFill>
                  <a:srgbClr val="14419B"/>
                </a:solidFill>
                <a:latin typeface="Tahoma"/>
                <a:cs typeface="Tahoma"/>
              </a:rPr>
              <a:t>https://</a:t>
            </a:r>
            <a:r>
              <a:rPr lang="en" sz="1000" spc="-85" dirty="0" err="1">
                <a:solidFill>
                  <a:srgbClr val="14419B"/>
                </a:solidFill>
                <a:latin typeface="Tahoma"/>
                <a:cs typeface="Tahoma"/>
              </a:rPr>
              <a:t>data.worldbank.org</a:t>
            </a:r>
            <a:r>
              <a:rPr lang="en" sz="1000" spc="-85" dirty="0">
                <a:solidFill>
                  <a:srgbClr val="14419B"/>
                </a:solidFill>
                <a:latin typeface="Tahoma"/>
                <a:cs typeface="Tahoma"/>
              </a:rPr>
              <a:t>/indicator/NY.GDP.PCAP.PP.CD</a:t>
            </a:r>
          </a:p>
          <a:p>
            <a:pPr marL="12700">
              <a:spcBef>
                <a:spcPts val="100"/>
              </a:spcBef>
            </a:pPr>
            <a:r>
              <a:rPr lang="en" sz="1000" b="1" spc="-85" dirty="0">
                <a:solidFill>
                  <a:srgbClr val="14419B"/>
                </a:solidFill>
                <a:latin typeface="Tahoma"/>
                <a:cs typeface="Tahoma"/>
              </a:rPr>
              <a:t>Gini index:</a:t>
            </a:r>
            <a:r>
              <a:rPr lang="ru-RU" sz="1000" spc="-85" dirty="0">
                <a:solidFill>
                  <a:srgbClr val="14419B"/>
                </a:solidFill>
                <a:latin typeface="Tahoma"/>
                <a:cs typeface="Tahoma"/>
              </a:rPr>
              <a:t>                   </a:t>
            </a:r>
            <a:r>
              <a:rPr lang="en" sz="1000" spc="-85" dirty="0">
                <a:solidFill>
                  <a:srgbClr val="14419B"/>
                </a:solidFill>
                <a:latin typeface="Tahoma"/>
                <a:cs typeface="Tahoma"/>
              </a:rPr>
              <a:t>https://</a:t>
            </a:r>
            <a:r>
              <a:rPr lang="en" sz="1000" spc="-85" dirty="0" err="1">
                <a:solidFill>
                  <a:srgbClr val="14419B"/>
                </a:solidFill>
                <a:latin typeface="Tahoma"/>
                <a:cs typeface="Tahoma"/>
              </a:rPr>
              <a:t>data.worldbank.org</a:t>
            </a:r>
            <a:r>
              <a:rPr lang="en" sz="1000" spc="-85" dirty="0">
                <a:solidFill>
                  <a:srgbClr val="14419B"/>
                </a:solidFill>
                <a:latin typeface="Tahoma"/>
                <a:cs typeface="Tahoma"/>
              </a:rPr>
              <a:t>/indicator/SI.POV.GINI</a:t>
            </a:r>
          </a:p>
          <a:p>
            <a:pPr marL="12700">
              <a:spcBef>
                <a:spcPts val="100"/>
              </a:spcBef>
            </a:pPr>
            <a:r>
              <a:rPr lang="en" sz="1000" b="1" spc="-85" dirty="0">
                <a:solidFill>
                  <a:srgbClr val="14419B"/>
                </a:solidFill>
                <a:latin typeface="Tahoma"/>
                <a:cs typeface="Tahoma"/>
              </a:rPr>
              <a:t>CPI 2018:</a:t>
            </a:r>
            <a:r>
              <a:rPr lang="en" sz="1000" spc="-85" dirty="0">
                <a:solidFill>
                  <a:srgbClr val="14419B"/>
                </a:solidFill>
                <a:latin typeface="Tahoma"/>
                <a:cs typeface="Tahoma"/>
              </a:rPr>
              <a:t> </a:t>
            </a:r>
            <a:r>
              <a:rPr lang="ru-RU" sz="1000" spc="-85" dirty="0">
                <a:solidFill>
                  <a:srgbClr val="14419B"/>
                </a:solidFill>
                <a:latin typeface="Tahoma"/>
                <a:cs typeface="Tahoma"/>
              </a:rPr>
              <a:t>                   </a:t>
            </a:r>
            <a:r>
              <a:rPr lang="en" sz="1000" spc="-85" dirty="0">
                <a:solidFill>
                  <a:srgbClr val="14419B"/>
                </a:solidFill>
                <a:latin typeface="Tahoma"/>
                <a:cs typeface="Tahoma"/>
              </a:rPr>
              <a:t>https://</a:t>
            </a:r>
            <a:r>
              <a:rPr lang="en" sz="1000" spc="-85" dirty="0" err="1">
                <a:solidFill>
                  <a:srgbClr val="14419B"/>
                </a:solidFill>
                <a:latin typeface="Tahoma"/>
                <a:cs typeface="Tahoma"/>
              </a:rPr>
              <a:t>www.transparency.org</a:t>
            </a:r>
            <a:r>
              <a:rPr lang="en" sz="1000" spc="-85" dirty="0">
                <a:solidFill>
                  <a:srgbClr val="14419B"/>
                </a:solidFill>
                <a:latin typeface="Tahoma"/>
                <a:cs typeface="Tahoma"/>
              </a:rPr>
              <a:t>/</a:t>
            </a:r>
            <a:r>
              <a:rPr lang="en" sz="1000" spc="-85" dirty="0" err="1">
                <a:solidFill>
                  <a:srgbClr val="14419B"/>
                </a:solidFill>
                <a:latin typeface="Tahoma"/>
                <a:cs typeface="Tahoma"/>
              </a:rPr>
              <a:t>en</a:t>
            </a:r>
            <a:r>
              <a:rPr lang="en" sz="1000" spc="-85" dirty="0">
                <a:solidFill>
                  <a:srgbClr val="14419B"/>
                </a:solidFill>
                <a:latin typeface="Tahoma"/>
                <a:cs typeface="Tahoma"/>
              </a:rPr>
              <a:t>/cpi/2018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3342C7-140B-4834-011D-8554FCA360ED}"/>
              </a:ext>
            </a:extLst>
          </p:cNvPr>
          <p:cNvSpPr txBox="1"/>
          <p:nvPr/>
        </p:nvSpPr>
        <p:spPr>
          <a:xfrm>
            <a:off x="4605343" y="5822534"/>
            <a:ext cx="6096000" cy="59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0" cap="none" spc="-85" normalizeH="0" baseline="0" noProof="0" dirty="0">
                <a:ln>
                  <a:noFill/>
                </a:ln>
                <a:solidFill>
                  <a:srgbClr val="14419B"/>
                </a:solidFill>
                <a:effectLst/>
                <a:uLnTx/>
                <a:uFillTx/>
                <a:latin typeface="Tahoma"/>
                <a:cs typeface="Tahoma"/>
              </a:rPr>
              <a:t>Источники:</a:t>
            </a:r>
          </a:p>
          <a:p>
            <a:pPr marL="12700">
              <a:spcBef>
                <a:spcPts val="100"/>
              </a:spcBef>
              <a:defRPr/>
            </a:pPr>
            <a:r>
              <a:rPr kumimoji="0" lang="en" sz="1000" b="1" i="0" u="none" strike="noStrike" kern="0" cap="none" spc="-85" normalizeH="0" baseline="0" noProof="0" dirty="0">
                <a:ln>
                  <a:noFill/>
                </a:ln>
                <a:solidFill>
                  <a:srgbClr val="14419B"/>
                </a:solidFill>
                <a:effectLst/>
                <a:uLnTx/>
                <a:uFillTx/>
                <a:latin typeface="Tahoma"/>
                <a:cs typeface="Tahoma"/>
              </a:rPr>
              <a:t>European Social Survey (ESS). ESS Round 9: European Social Survey Round 9 Data (2018):</a:t>
            </a:r>
            <a:r>
              <a:rPr kumimoji="0" lang="ru-RU" sz="1000" b="0" i="0" u="none" strike="noStrike" kern="0" cap="none" spc="-85" normalizeH="0" baseline="0" noProof="0" dirty="0">
                <a:ln>
                  <a:noFill/>
                </a:ln>
                <a:solidFill>
                  <a:srgbClr val="14419B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lang="en-US" sz="1000" spc="-85" dirty="0">
                <a:solidFill>
                  <a:srgbClr val="14419B"/>
                </a:solidFill>
                <a:latin typeface="Tahoma"/>
                <a:cs typeface="Tahoma"/>
              </a:rPr>
              <a:t>https://</a:t>
            </a:r>
            <a:r>
              <a:rPr lang="en-US" sz="1000" spc="-85" dirty="0" err="1">
                <a:solidFill>
                  <a:srgbClr val="14419B"/>
                </a:solidFill>
                <a:latin typeface="Tahoma"/>
                <a:cs typeface="Tahoma"/>
              </a:rPr>
              <a:t>www.europeansocialsurvey.org</a:t>
            </a:r>
            <a:r>
              <a:rPr lang="en-US" sz="1000" spc="-85" dirty="0">
                <a:solidFill>
                  <a:srgbClr val="14419B"/>
                </a:solidFill>
                <a:latin typeface="Tahoma"/>
                <a:cs typeface="Tahoma"/>
              </a:rPr>
              <a:t>/</a:t>
            </a:r>
            <a:r>
              <a:rPr lang="ru-RU" sz="1000" spc="-85" dirty="0">
                <a:solidFill>
                  <a:srgbClr val="14419B"/>
                </a:solidFill>
                <a:latin typeface="Tahoma"/>
                <a:cs typeface="Tahoma"/>
              </a:rPr>
              <a:t> </a:t>
            </a:r>
            <a:endParaRPr lang="en" sz="1000" spc="-85" dirty="0">
              <a:solidFill>
                <a:srgbClr val="14419B"/>
              </a:solidFill>
              <a:latin typeface="Tahoma"/>
              <a:cs typeface="Tahoma"/>
            </a:endParaRPr>
          </a:p>
        </p:txBody>
      </p:sp>
      <p:sp>
        <p:nvSpPr>
          <p:cNvPr id="39" name="object 5">
            <a:extLst>
              <a:ext uri="{FF2B5EF4-FFF2-40B4-BE49-F238E27FC236}">
                <a16:creationId xmlns:a16="http://schemas.microsoft.com/office/drawing/2014/main" id="{48E970DF-71D5-AD65-E893-A65B120215E2}"/>
              </a:ext>
            </a:extLst>
          </p:cNvPr>
          <p:cNvSpPr txBox="1"/>
          <p:nvPr/>
        </p:nvSpPr>
        <p:spPr>
          <a:xfrm>
            <a:off x="3436023" y="422626"/>
            <a:ext cx="211612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1000" spc="-10" dirty="0">
                <a:solidFill>
                  <a:srgbClr val="0D2C69"/>
                </a:solidFill>
                <a:latin typeface="Calibri"/>
                <a:cs typeface="Calibri"/>
              </a:rPr>
              <a:t>Ценности и личностные приоритеты граждан Европы: кросс-национальный анализ структуры базовых ценностей на данных </a:t>
            </a:r>
            <a:r>
              <a:rPr lang="en" sz="1000" spc="-10" dirty="0">
                <a:solidFill>
                  <a:srgbClr val="0D2C69"/>
                </a:solidFill>
                <a:latin typeface="Calibri"/>
                <a:cs typeface="Calibri"/>
              </a:rPr>
              <a:t>ESS</a:t>
            </a:r>
          </a:p>
        </p:txBody>
      </p:sp>
      <p:sp>
        <p:nvSpPr>
          <p:cNvPr id="6" name="object 48">
            <a:extLst>
              <a:ext uri="{FF2B5EF4-FFF2-40B4-BE49-F238E27FC236}">
                <a16:creationId xmlns:a16="http://schemas.microsoft.com/office/drawing/2014/main" id="{E3C7D2AE-F5AA-516F-1E3B-17BFE208E457}"/>
              </a:ext>
            </a:extLst>
          </p:cNvPr>
          <p:cNvSpPr txBox="1"/>
          <p:nvPr/>
        </p:nvSpPr>
        <p:spPr>
          <a:xfrm>
            <a:off x="554299" y="1249017"/>
            <a:ext cx="3500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b="1" spc="-145" dirty="0">
                <a:solidFill>
                  <a:srgbClr val="0F2C68"/>
                </a:solidFill>
                <a:latin typeface="Tahoma"/>
                <a:cs typeface="Tahoma"/>
              </a:rPr>
              <a:t>Данные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A5F8B9F5-C8F2-2755-E3B6-EE00D2F2D2C4}"/>
              </a:ext>
            </a:extLst>
          </p:cNvPr>
          <p:cNvSpPr/>
          <p:nvPr/>
        </p:nvSpPr>
        <p:spPr>
          <a:xfrm>
            <a:off x="8709297" y="1771452"/>
            <a:ext cx="3238061" cy="971748"/>
          </a:xfrm>
          <a:custGeom>
            <a:avLst/>
            <a:gdLst/>
            <a:ahLst/>
            <a:cxnLst/>
            <a:rect l="l" t="t" r="r" b="b"/>
            <a:pathLst>
              <a:path w="7583170" h="4356100">
                <a:moveTo>
                  <a:pt x="0" y="0"/>
                </a:moveTo>
                <a:lnTo>
                  <a:pt x="7583099" y="0"/>
                </a:lnTo>
                <a:lnTo>
                  <a:pt x="7583099" y="4355999"/>
                </a:lnTo>
                <a:lnTo>
                  <a:pt x="0" y="4355999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9">
            <a:extLst>
              <a:ext uri="{FF2B5EF4-FFF2-40B4-BE49-F238E27FC236}">
                <a16:creationId xmlns:a16="http://schemas.microsoft.com/office/drawing/2014/main" id="{DA7B4030-E02E-451B-193E-E9CFF235D687}"/>
              </a:ext>
            </a:extLst>
          </p:cNvPr>
          <p:cNvSpPr txBox="1"/>
          <p:nvPr/>
        </p:nvSpPr>
        <p:spPr>
          <a:xfrm>
            <a:off x="8859889" y="1819577"/>
            <a:ext cx="3087469" cy="2590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600" b="1" spc="-100" dirty="0">
                <a:solidFill>
                  <a:srgbClr val="14419B"/>
                </a:solidFill>
                <a:latin typeface="Tahoma"/>
                <a:cs typeface="Tahoma"/>
              </a:rPr>
              <a:t>Ценности </a:t>
            </a:r>
            <a:r>
              <a:rPr lang="ru-RU" sz="1600" b="1" spc="-100" dirty="0" err="1">
                <a:solidFill>
                  <a:srgbClr val="14419B"/>
                </a:solidFill>
                <a:latin typeface="Tahoma"/>
                <a:cs typeface="Tahoma"/>
              </a:rPr>
              <a:t>медиапотребления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40" name="object 8">
            <a:extLst>
              <a:ext uri="{FF2B5EF4-FFF2-40B4-BE49-F238E27FC236}">
                <a16:creationId xmlns:a16="http://schemas.microsoft.com/office/drawing/2014/main" id="{56951C05-41F5-F5A9-10AE-A1CE133C5E11}"/>
              </a:ext>
            </a:extLst>
          </p:cNvPr>
          <p:cNvSpPr/>
          <p:nvPr/>
        </p:nvSpPr>
        <p:spPr>
          <a:xfrm>
            <a:off x="8709297" y="2935172"/>
            <a:ext cx="3238061" cy="971748"/>
          </a:xfrm>
          <a:custGeom>
            <a:avLst/>
            <a:gdLst/>
            <a:ahLst/>
            <a:cxnLst/>
            <a:rect l="l" t="t" r="r" b="b"/>
            <a:pathLst>
              <a:path w="7583170" h="4356100">
                <a:moveTo>
                  <a:pt x="0" y="0"/>
                </a:moveTo>
                <a:lnTo>
                  <a:pt x="7583099" y="0"/>
                </a:lnTo>
                <a:lnTo>
                  <a:pt x="7583099" y="4355999"/>
                </a:lnTo>
                <a:lnTo>
                  <a:pt x="0" y="4355999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9">
            <a:extLst>
              <a:ext uri="{FF2B5EF4-FFF2-40B4-BE49-F238E27FC236}">
                <a16:creationId xmlns:a16="http://schemas.microsoft.com/office/drawing/2014/main" id="{339B466F-8184-7FA9-E95F-D3B5148E0D21}"/>
              </a:ext>
            </a:extLst>
          </p:cNvPr>
          <p:cNvSpPr txBox="1"/>
          <p:nvPr/>
        </p:nvSpPr>
        <p:spPr>
          <a:xfrm>
            <a:off x="8859889" y="2983297"/>
            <a:ext cx="3087469" cy="2590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600" b="1" spc="-100" dirty="0">
                <a:solidFill>
                  <a:srgbClr val="14419B"/>
                </a:solidFill>
                <a:latin typeface="Tahoma"/>
                <a:cs typeface="Tahoma"/>
              </a:rPr>
              <a:t>Демографические переменные</a:t>
            </a:r>
            <a:endParaRPr sz="1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5">
            <a:extLst>
              <a:ext uri="{FF2B5EF4-FFF2-40B4-BE49-F238E27FC236}">
                <a16:creationId xmlns:a16="http://schemas.microsoft.com/office/drawing/2014/main" id="{CEFE2DC1-A180-2939-2371-320AB9A0A2F5}"/>
              </a:ext>
            </a:extLst>
          </p:cNvPr>
          <p:cNvSpPr txBox="1"/>
          <p:nvPr/>
        </p:nvSpPr>
        <p:spPr>
          <a:xfrm>
            <a:off x="1130989" y="523123"/>
            <a:ext cx="177418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000" dirty="0">
                <a:solidFill>
                  <a:srgbClr val="0D2C69"/>
                </a:solidFill>
                <a:latin typeface="Calibri"/>
                <a:cs typeface="Calibri"/>
              </a:rPr>
              <a:t>Анализ больших данных</a:t>
            </a:r>
            <a:endParaRPr lang="ru-RU" sz="1000" dirty="0">
              <a:latin typeface="Calibri"/>
              <a:cs typeface="Calibri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798964CC-5824-1323-68BD-F57F43E07D57}"/>
              </a:ext>
            </a:extLst>
          </p:cNvPr>
          <p:cNvSpPr txBox="1"/>
          <p:nvPr/>
        </p:nvSpPr>
        <p:spPr>
          <a:xfrm>
            <a:off x="6247191" y="530940"/>
            <a:ext cx="129660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000" spc="-55" dirty="0">
                <a:solidFill>
                  <a:srgbClr val="0D2D68"/>
                </a:solidFill>
                <a:latin typeface="Verdana"/>
                <a:cs typeface="Verdana"/>
              </a:rPr>
              <a:t>Разведочный анализ</a:t>
            </a:r>
            <a:endParaRPr sz="1000" dirty="0">
              <a:latin typeface="Verdana"/>
              <a:cs typeface="Verdana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1F3346CD-6928-AFEC-AF29-505F4383AF66}"/>
              </a:ext>
            </a:extLst>
          </p:cNvPr>
          <p:cNvSpPr txBox="1"/>
          <p:nvPr/>
        </p:nvSpPr>
        <p:spPr>
          <a:xfrm>
            <a:off x="3436023" y="422626"/>
            <a:ext cx="211612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1000" spc="-10" dirty="0">
                <a:solidFill>
                  <a:srgbClr val="0D2C69"/>
                </a:solidFill>
                <a:latin typeface="Calibri"/>
                <a:cs typeface="Calibri"/>
              </a:rPr>
              <a:t>Ценности и личностные приоритеты граждан Европы: кросс-национальный анализ структуры базовых ценностей на данных </a:t>
            </a:r>
            <a:r>
              <a:rPr lang="en" sz="1000" spc="-10" dirty="0">
                <a:solidFill>
                  <a:srgbClr val="0D2C69"/>
                </a:solidFill>
                <a:latin typeface="Calibri"/>
                <a:cs typeface="Calibri"/>
              </a:rPr>
              <a:t>ESS</a:t>
            </a:r>
          </a:p>
        </p:txBody>
      </p:sp>
      <p:sp>
        <p:nvSpPr>
          <p:cNvPr id="7" name="object 48">
            <a:extLst>
              <a:ext uri="{FF2B5EF4-FFF2-40B4-BE49-F238E27FC236}">
                <a16:creationId xmlns:a16="http://schemas.microsoft.com/office/drawing/2014/main" id="{A71F5140-4D1B-5EBA-65E9-E2C2CF93EA1C}"/>
              </a:ext>
            </a:extLst>
          </p:cNvPr>
          <p:cNvSpPr txBox="1"/>
          <p:nvPr/>
        </p:nvSpPr>
        <p:spPr>
          <a:xfrm>
            <a:off x="554298" y="1249017"/>
            <a:ext cx="980890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spc="-145" dirty="0">
                <a:solidFill>
                  <a:srgbClr val="0F2C68"/>
                </a:solidFill>
                <a:latin typeface="Tahoma"/>
                <a:cs typeface="Tahoma"/>
              </a:rPr>
              <a:t>Разведочный анализ. Доля пропущенных значений по </a:t>
            </a:r>
            <a:r>
              <a:rPr lang="ru-RU" sz="2400" spc="-145" dirty="0" err="1">
                <a:solidFill>
                  <a:srgbClr val="0F2C68"/>
                </a:solidFill>
                <a:latin typeface="Tahoma"/>
                <a:cs typeface="Tahoma"/>
              </a:rPr>
              <a:t>перменным</a:t>
            </a:r>
            <a:endParaRPr lang="ru-RU" sz="2400" spc="-145" dirty="0">
              <a:solidFill>
                <a:srgbClr val="0F2C68"/>
              </a:solidFill>
              <a:latin typeface="Tahoma"/>
              <a:cs typeface="Tahoma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497FC3A-3712-5624-BD50-08489C6208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78" b="4652"/>
          <a:stretch/>
        </p:blipFill>
        <p:spPr>
          <a:xfrm>
            <a:off x="381000" y="1829187"/>
            <a:ext cx="10780985" cy="3962013"/>
          </a:xfrm>
          <a:prstGeom prst="rect">
            <a:avLst/>
          </a:prstGeom>
        </p:spPr>
      </p:pic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CA806F6F-1CA2-061E-DB8B-DC875BD486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333575"/>
              </p:ext>
            </p:extLst>
          </p:nvPr>
        </p:nvGraphicFramePr>
        <p:xfrm>
          <a:off x="7407597" y="1829187"/>
          <a:ext cx="3754388" cy="2381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194">
                  <a:extLst>
                    <a:ext uri="{9D8B030D-6E8A-4147-A177-3AD203B41FA5}">
                      <a16:colId xmlns:a16="http://schemas.microsoft.com/office/drawing/2014/main" val="3617101809"/>
                    </a:ext>
                  </a:extLst>
                </a:gridCol>
                <a:gridCol w="1877194">
                  <a:extLst>
                    <a:ext uri="{9D8B030D-6E8A-4147-A177-3AD203B41FA5}">
                      <a16:colId xmlns:a16="http://schemas.microsoft.com/office/drawing/2014/main" val="2827992222"/>
                    </a:ext>
                  </a:extLst>
                </a:gridCol>
              </a:tblGrid>
              <a:tr h="553055">
                <a:tc>
                  <a:txBody>
                    <a:bodyPr/>
                    <a:lstStyle/>
                    <a:p>
                      <a:r>
                        <a:rPr lang="ru-RU" dirty="0"/>
                        <a:t>Показатель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Доля пропусков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94353"/>
                  </a:ext>
                </a:extLst>
              </a:tr>
              <a:tr h="316032"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netustm</a:t>
                      </a:r>
                      <a:endParaRPr lang="ru-RU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30.45%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216286"/>
                  </a:ext>
                </a:extLst>
              </a:tr>
              <a:tr h="316032">
                <a:tc>
                  <a:txBody>
                    <a:bodyPr/>
                    <a:lstStyle/>
                    <a:p>
                      <a:pPr fontAlgn="ctr"/>
                      <a:r>
                        <a:rPr lang="en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hinctnta</a:t>
                      </a:r>
                      <a:endParaRPr lang="en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02784"/>
                  </a:ext>
                </a:extLst>
              </a:tr>
              <a:tr h="316032">
                <a:tc>
                  <a:txBody>
                    <a:bodyPr/>
                    <a:lstStyle/>
                    <a:p>
                      <a:pPr fontAlgn="ctr"/>
                      <a:r>
                        <a:rPr lang="en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ipstrgv</a:t>
                      </a:r>
                      <a:endParaRPr lang="en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2.67%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181041"/>
                  </a:ext>
                </a:extLst>
              </a:tr>
              <a:tr h="316032">
                <a:tc>
                  <a:txBody>
                    <a:bodyPr/>
                    <a:lstStyle/>
                    <a:p>
                      <a:pPr fontAlgn="ctr"/>
                      <a:r>
                        <a:rPr lang="en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ipfrule</a:t>
                      </a:r>
                      <a:endParaRPr lang="en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2.67%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753580"/>
                  </a:ext>
                </a:extLst>
              </a:tr>
              <a:tr h="316032">
                <a:tc>
                  <a:txBody>
                    <a:bodyPr/>
                    <a:lstStyle/>
                    <a:p>
                      <a:pPr fontAlgn="ctr"/>
                      <a:r>
                        <a:rPr lang="en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iprspot</a:t>
                      </a:r>
                      <a:endParaRPr lang="en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2.49%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2389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57202932-FFB0-028E-2B16-E8E979CADB5E}"/>
              </a:ext>
            </a:extLst>
          </p:cNvPr>
          <p:cNvSpPr txBox="1"/>
          <p:nvPr/>
        </p:nvSpPr>
        <p:spPr>
          <a:xfrm>
            <a:off x="1656692" y="579120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95"/>
              </a:spcBef>
            </a:pPr>
            <a:r>
              <a:rPr lang="ru-RU" sz="1600" b="1" dirty="0">
                <a:solidFill>
                  <a:srgbClr val="0E2C68"/>
                </a:solidFill>
                <a:latin typeface="Calibri"/>
                <a:cs typeface="Calibri"/>
              </a:rPr>
              <a:t>Основной вывод:</a:t>
            </a: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 Для всех показателей пропуски распределены по странам достаточно равномерно. Построчное удаление не сместило выборку в сторону отдельных государств</a:t>
            </a:r>
          </a:p>
        </p:txBody>
      </p:sp>
    </p:spTree>
    <p:extLst>
      <p:ext uri="{BB962C8B-B14F-4D97-AF65-F5344CB8AC3E}">
        <p14:creationId xmlns:p14="http://schemas.microsoft.com/office/powerpoint/2010/main" val="270426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8AB323F-C693-3B28-CC6F-DBD07DB7F3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63"/>
          <a:stretch/>
        </p:blipFill>
        <p:spPr>
          <a:xfrm>
            <a:off x="2240844" y="2165872"/>
            <a:ext cx="5395965" cy="3429000"/>
          </a:xfrm>
          <a:prstGeom prst="rect">
            <a:avLst/>
          </a:prstGeom>
        </p:spPr>
      </p:pic>
      <p:sp>
        <p:nvSpPr>
          <p:cNvPr id="6" name="object 5">
            <a:extLst>
              <a:ext uri="{FF2B5EF4-FFF2-40B4-BE49-F238E27FC236}">
                <a16:creationId xmlns:a16="http://schemas.microsoft.com/office/drawing/2014/main" id="{DCCFB8BF-AB57-6E07-338C-BB293B55240C}"/>
              </a:ext>
            </a:extLst>
          </p:cNvPr>
          <p:cNvSpPr txBox="1"/>
          <p:nvPr/>
        </p:nvSpPr>
        <p:spPr>
          <a:xfrm>
            <a:off x="1130989" y="523123"/>
            <a:ext cx="177418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000" dirty="0">
                <a:solidFill>
                  <a:srgbClr val="0D2C69"/>
                </a:solidFill>
                <a:latin typeface="Calibri"/>
                <a:cs typeface="Calibri"/>
              </a:rPr>
              <a:t>Анализ больших данных</a:t>
            </a:r>
            <a:endParaRPr lang="ru-RU" sz="1000" dirty="0">
              <a:latin typeface="Calibri"/>
              <a:cs typeface="Calibri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54610F3-9072-54E3-CD4E-4A89D4F5C1D5}"/>
              </a:ext>
            </a:extLst>
          </p:cNvPr>
          <p:cNvSpPr txBox="1"/>
          <p:nvPr/>
        </p:nvSpPr>
        <p:spPr>
          <a:xfrm>
            <a:off x="6247191" y="530940"/>
            <a:ext cx="129660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000" spc="-55" dirty="0">
                <a:solidFill>
                  <a:srgbClr val="0D2D68"/>
                </a:solidFill>
                <a:latin typeface="Verdana"/>
                <a:cs typeface="Verdana"/>
              </a:rPr>
              <a:t>Разведочный анализ</a:t>
            </a:r>
            <a:endParaRPr sz="1000" dirty="0">
              <a:latin typeface="Verdana"/>
              <a:cs typeface="Verdan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27E0AC6A-8611-55B0-7A9B-5D092C12EEC8}"/>
              </a:ext>
            </a:extLst>
          </p:cNvPr>
          <p:cNvSpPr txBox="1"/>
          <p:nvPr/>
        </p:nvSpPr>
        <p:spPr>
          <a:xfrm>
            <a:off x="3436023" y="422626"/>
            <a:ext cx="211612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1000" spc="-10" dirty="0">
                <a:solidFill>
                  <a:srgbClr val="0D2C69"/>
                </a:solidFill>
                <a:latin typeface="Calibri"/>
                <a:cs typeface="Calibri"/>
              </a:rPr>
              <a:t>Ценности и личностные приоритеты граждан Европы: кросс-национальный анализ структуры базовых ценностей на данных </a:t>
            </a:r>
            <a:r>
              <a:rPr lang="en" sz="1000" spc="-10" dirty="0">
                <a:solidFill>
                  <a:srgbClr val="0D2C69"/>
                </a:solidFill>
                <a:latin typeface="Calibri"/>
                <a:cs typeface="Calibri"/>
              </a:rPr>
              <a:t>ESS</a:t>
            </a:r>
          </a:p>
        </p:txBody>
      </p:sp>
      <p:sp>
        <p:nvSpPr>
          <p:cNvPr id="9" name="object 48">
            <a:extLst>
              <a:ext uri="{FF2B5EF4-FFF2-40B4-BE49-F238E27FC236}">
                <a16:creationId xmlns:a16="http://schemas.microsoft.com/office/drawing/2014/main" id="{522F860B-8BF4-DB1F-83A1-2C75CD82B3E3}"/>
              </a:ext>
            </a:extLst>
          </p:cNvPr>
          <p:cNvSpPr txBox="1"/>
          <p:nvPr/>
        </p:nvSpPr>
        <p:spPr>
          <a:xfrm>
            <a:off x="554298" y="1249017"/>
            <a:ext cx="980890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spc="-145" dirty="0">
                <a:solidFill>
                  <a:srgbClr val="0F2C68"/>
                </a:solidFill>
                <a:latin typeface="Tahoma"/>
                <a:cs typeface="Tahoma"/>
              </a:rPr>
              <a:t>Разведочный анализ. Матрица корреляции страновых признаков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B1EDBC-F371-5E9C-4CF4-8CDC5BAD98E6}"/>
              </a:ext>
            </a:extLst>
          </p:cNvPr>
          <p:cNvSpPr txBox="1"/>
          <p:nvPr/>
        </p:nvSpPr>
        <p:spPr>
          <a:xfrm>
            <a:off x="2209800" y="5791200"/>
            <a:ext cx="7467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95"/>
              </a:spcBef>
            </a:pPr>
            <a:r>
              <a:rPr lang="ru-RU" sz="1600" b="1" dirty="0">
                <a:solidFill>
                  <a:srgbClr val="0E2C68"/>
                </a:solidFill>
                <a:latin typeface="Calibri"/>
                <a:cs typeface="Calibri"/>
              </a:rPr>
              <a:t>Основной вывод</a:t>
            </a: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: богатые европейские страны одновременно имеют более чистые институты.</a:t>
            </a:r>
          </a:p>
        </p:txBody>
      </p:sp>
    </p:spTree>
    <p:extLst>
      <p:ext uri="{BB962C8B-B14F-4D97-AF65-F5344CB8AC3E}">
        <p14:creationId xmlns:p14="http://schemas.microsoft.com/office/powerpoint/2010/main" val="597957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5">
            <a:extLst>
              <a:ext uri="{FF2B5EF4-FFF2-40B4-BE49-F238E27FC236}">
                <a16:creationId xmlns:a16="http://schemas.microsoft.com/office/drawing/2014/main" id="{BA0B9753-799E-AB60-B25A-B9FD023B0315}"/>
              </a:ext>
            </a:extLst>
          </p:cNvPr>
          <p:cNvSpPr txBox="1"/>
          <p:nvPr/>
        </p:nvSpPr>
        <p:spPr>
          <a:xfrm>
            <a:off x="1130989" y="523123"/>
            <a:ext cx="177418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000" dirty="0">
                <a:solidFill>
                  <a:srgbClr val="0D2C69"/>
                </a:solidFill>
                <a:latin typeface="Calibri"/>
                <a:cs typeface="Calibri"/>
              </a:rPr>
              <a:t>Анализ больших данных</a:t>
            </a:r>
            <a:endParaRPr lang="ru-RU" sz="1000" dirty="0">
              <a:latin typeface="Calibri"/>
              <a:cs typeface="Calibri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D3AF2EFA-9176-E74B-27FB-8A6B08D94515}"/>
              </a:ext>
            </a:extLst>
          </p:cNvPr>
          <p:cNvSpPr txBox="1"/>
          <p:nvPr/>
        </p:nvSpPr>
        <p:spPr>
          <a:xfrm>
            <a:off x="6247191" y="530940"/>
            <a:ext cx="129660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000" spc="-55" dirty="0">
                <a:solidFill>
                  <a:srgbClr val="0D2D68"/>
                </a:solidFill>
                <a:latin typeface="Verdana"/>
                <a:cs typeface="Verdana"/>
              </a:rPr>
              <a:t>Разведочный анализ</a:t>
            </a:r>
            <a:endParaRPr sz="1000" dirty="0">
              <a:latin typeface="Verdana"/>
              <a:cs typeface="Verdana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B004B651-1B37-697A-D018-D295FF3CCEF6}"/>
              </a:ext>
            </a:extLst>
          </p:cNvPr>
          <p:cNvSpPr txBox="1"/>
          <p:nvPr/>
        </p:nvSpPr>
        <p:spPr>
          <a:xfrm>
            <a:off x="3436023" y="422626"/>
            <a:ext cx="211612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1000" spc="-10" dirty="0">
                <a:solidFill>
                  <a:srgbClr val="0D2C69"/>
                </a:solidFill>
                <a:latin typeface="Calibri"/>
                <a:cs typeface="Calibri"/>
              </a:rPr>
              <a:t>Ценности и личностные приоритеты граждан Европы: кросс-национальный анализ структуры базовых ценностей на данных </a:t>
            </a:r>
            <a:r>
              <a:rPr lang="en" sz="1000" spc="-10" dirty="0">
                <a:solidFill>
                  <a:srgbClr val="0D2C69"/>
                </a:solidFill>
                <a:latin typeface="Calibri"/>
                <a:cs typeface="Calibri"/>
              </a:rPr>
              <a:t>ESS</a:t>
            </a:r>
          </a:p>
        </p:txBody>
      </p:sp>
      <p:sp>
        <p:nvSpPr>
          <p:cNvPr id="7" name="object 48">
            <a:extLst>
              <a:ext uri="{FF2B5EF4-FFF2-40B4-BE49-F238E27FC236}">
                <a16:creationId xmlns:a16="http://schemas.microsoft.com/office/drawing/2014/main" id="{23E2B531-E4F1-57CD-D6EE-7C96B7CFF0FD}"/>
              </a:ext>
            </a:extLst>
          </p:cNvPr>
          <p:cNvSpPr txBox="1"/>
          <p:nvPr/>
        </p:nvSpPr>
        <p:spPr>
          <a:xfrm>
            <a:off x="554298" y="1249017"/>
            <a:ext cx="980890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spc="-145" dirty="0">
                <a:solidFill>
                  <a:srgbClr val="0F2C68"/>
                </a:solidFill>
                <a:latin typeface="Tahoma"/>
                <a:cs typeface="Tahoma"/>
              </a:rPr>
              <a:t>Разведочный анализ. Распределение социального доверия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FEF128-EA1C-44F1-2A4F-C71E9E7F9370}"/>
              </a:ext>
            </a:extLst>
          </p:cNvPr>
          <p:cNvSpPr txBox="1"/>
          <p:nvPr/>
        </p:nvSpPr>
        <p:spPr>
          <a:xfrm>
            <a:off x="1665944" y="5547655"/>
            <a:ext cx="7772400" cy="843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95"/>
              </a:spcBef>
            </a:pPr>
            <a:r>
              <a:rPr lang="ru-RU" sz="1600" b="1" dirty="0">
                <a:solidFill>
                  <a:srgbClr val="0E2C68"/>
                </a:solidFill>
                <a:latin typeface="Calibri"/>
                <a:cs typeface="Calibri"/>
              </a:rPr>
              <a:t>Основной вывод</a:t>
            </a: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: средний уровень доверия — 5.06 из 10, медиана — 5; распределение центрировано около среднего уровня, но есть заметная поляризация ответов по всей шкале 0–10.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D21B8D5-A0E8-4B9D-6356-57383330B0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76"/>
          <a:stretch/>
        </p:blipFill>
        <p:spPr>
          <a:xfrm>
            <a:off x="1665944" y="1857381"/>
            <a:ext cx="7772400" cy="343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552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98632" y="503046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0F2C69"/>
                </a:solidFill>
                <a:latin typeface="Calibri"/>
                <a:cs typeface="Calibri"/>
              </a:rPr>
              <a:t>5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F74D4C5B-AF18-B230-92AB-E7285B660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369394"/>
              </p:ext>
            </p:extLst>
          </p:nvPr>
        </p:nvGraphicFramePr>
        <p:xfrm>
          <a:off x="479240" y="1981200"/>
          <a:ext cx="11028100" cy="17256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05620">
                  <a:extLst>
                    <a:ext uri="{9D8B030D-6E8A-4147-A177-3AD203B41FA5}">
                      <a16:colId xmlns:a16="http://schemas.microsoft.com/office/drawing/2014/main" val="735465248"/>
                    </a:ext>
                  </a:extLst>
                </a:gridCol>
                <a:gridCol w="2205620">
                  <a:extLst>
                    <a:ext uri="{9D8B030D-6E8A-4147-A177-3AD203B41FA5}">
                      <a16:colId xmlns:a16="http://schemas.microsoft.com/office/drawing/2014/main" val="2667550013"/>
                    </a:ext>
                  </a:extLst>
                </a:gridCol>
                <a:gridCol w="2205620">
                  <a:extLst>
                    <a:ext uri="{9D8B030D-6E8A-4147-A177-3AD203B41FA5}">
                      <a16:colId xmlns:a16="http://schemas.microsoft.com/office/drawing/2014/main" val="205120944"/>
                    </a:ext>
                  </a:extLst>
                </a:gridCol>
                <a:gridCol w="2205620">
                  <a:extLst>
                    <a:ext uri="{9D8B030D-6E8A-4147-A177-3AD203B41FA5}">
                      <a16:colId xmlns:a16="http://schemas.microsoft.com/office/drawing/2014/main" val="596097058"/>
                    </a:ext>
                  </a:extLst>
                </a:gridCol>
                <a:gridCol w="2205620">
                  <a:extLst>
                    <a:ext uri="{9D8B030D-6E8A-4147-A177-3AD203B41FA5}">
                      <a16:colId xmlns:a16="http://schemas.microsoft.com/office/drawing/2014/main" val="1750056518"/>
                    </a:ext>
                  </a:extLst>
                </a:gridCol>
              </a:tblGrid>
              <a:tr h="2876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Страна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Среднее значение 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Медиана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Стандартное отклонение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Количество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921254"/>
                  </a:ext>
                </a:extLst>
              </a:tr>
              <a:tr h="2876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Болгария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 dirty="0">
                          <a:effectLst/>
                        </a:rPr>
                        <a:t>3.49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 dirty="0">
                          <a:effectLst/>
                        </a:rPr>
                        <a:t>3.0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2.40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2147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40113967"/>
                  </a:ext>
                </a:extLst>
              </a:tr>
              <a:tr h="2876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Черногория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3.49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 dirty="0">
                          <a:effectLst/>
                        </a:rPr>
                        <a:t>3.0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 dirty="0">
                          <a:effectLst/>
                        </a:rPr>
                        <a:t>2.45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 dirty="0">
                          <a:effectLst/>
                        </a:rPr>
                        <a:t>1200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7482535"/>
                  </a:ext>
                </a:extLst>
              </a:tr>
              <a:tr h="2876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Кипр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3.73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4.0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2.36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 dirty="0">
                          <a:effectLst/>
                        </a:rPr>
                        <a:t>780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94428133"/>
                  </a:ext>
                </a:extLst>
              </a:tr>
              <a:tr h="2876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Сербия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3.75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4.0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2.83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 dirty="0">
                          <a:effectLst/>
                        </a:rPr>
                        <a:t>2037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7671909"/>
                  </a:ext>
                </a:extLst>
              </a:tr>
              <a:tr h="2876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Словакия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 dirty="0">
                          <a:effectLst/>
                        </a:rPr>
                        <a:t>3.86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 dirty="0">
                          <a:effectLst/>
                        </a:rPr>
                        <a:t>4.0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 dirty="0">
                          <a:effectLst/>
                        </a:rPr>
                        <a:t>2.57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 dirty="0">
                          <a:effectLst/>
                        </a:rPr>
                        <a:t>1081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6385166"/>
                  </a:ext>
                </a:extLst>
              </a:tr>
            </a:tbl>
          </a:graphicData>
        </a:graphic>
      </p:graphicFrame>
      <p:sp>
        <p:nvSpPr>
          <p:cNvPr id="4" name="object 5">
            <a:extLst>
              <a:ext uri="{FF2B5EF4-FFF2-40B4-BE49-F238E27FC236}">
                <a16:creationId xmlns:a16="http://schemas.microsoft.com/office/drawing/2014/main" id="{64867B5F-E971-0EDB-3A57-8645D57B3978}"/>
              </a:ext>
            </a:extLst>
          </p:cNvPr>
          <p:cNvSpPr txBox="1"/>
          <p:nvPr/>
        </p:nvSpPr>
        <p:spPr>
          <a:xfrm>
            <a:off x="1130989" y="523123"/>
            <a:ext cx="177418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000" dirty="0">
                <a:solidFill>
                  <a:srgbClr val="0D2C69"/>
                </a:solidFill>
                <a:latin typeface="Calibri"/>
                <a:cs typeface="Calibri"/>
              </a:rPr>
              <a:t>Анализ больших данных</a:t>
            </a:r>
            <a:endParaRPr lang="ru-RU" sz="1000" dirty="0">
              <a:latin typeface="Calibri"/>
              <a:cs typeface="Calibri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939C6E51-3365-525F-AE0E-A67F1DE06201}"/>
              </a:ext>
            </a:extLst>
          </p:cNvPr>
          <p:cNvSpPr txBox="1"/>
          <p:nvPr/>
        </p:nvSpPr>
        <p:spPr>
          <a:xfrm>
            <a:off x="6247191" y="530940"/>
            <a:ext cx="129660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000" spc="-55" dirty="0">
                <a:solidFill>
                  <a:srgbClr val="0D2D68"/>
                </a:solidFill>
                <a:latin typeface="Verdana"/>
                <a:cs typeface="Verdana"/>
              </a:rPr>
              <a:t>Разведочный анализ</a:t>
            </a:r>
            <a:endParaRPr sz="1000" dirty="0">
              <a:latin typeface="Verdana"/>
              <a:cs typeface="Verdana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0B7CCC5-3167-A9B7-101E-1D2AA7408856}"/>
              </a:ext>
            </a:extLst>
          </p:cNvPr>
          <p:cNvSpPr txBox="1"/>
          <p:nvPr/>
        </p:nvSpPr>
        <p:spPr>
          <a:xfrm>
            <a:off x="3436023" y="422626"/>
            <a:ext cx="211612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1000" spc="-10" dirty="0">
                <a:solidFill>
                  <a:srgbClr val="0D2C69"/>
                </a:solidFill>
                <a:latin typeface="Calibri"/>
                <a:cs typeface="Calibri"/>
              </a:rPr>
              <a:t>Ценности и личностные приоритеты граждан Европы: кросс-национальный анализ структуры базовых ценностей на данных </a:t>
            </a:r>
            <a:r>
              <a:rPr lang="en" sz="1000" spc="-10" dirty="0">
                <a:solidFill>
                  <a:srgbClr val="0D2C69"/>
                </a:solidFill>
                <a:latin typeface="Calibri"/>
                <a:cs typeface="Calibri"/>
              </a:rPr>
              <a:t>ESS</a:t>
            </a:r>
          </a:p>
        </p:txBody>
      </p:sp>
      <p:sp>
        <p:nvSpPr>
          <p:cNvPr id="7" name="object 48">
            <a:extLst>
              <a:ext uri="{FF2B5EF4-FFF2-40B4-BE49-F238E27FC236}">
                <a16:creationId xmlns:a16="http://schemas.microsoft.com/office/drawing/2014/main" id="{B512F7F2-5EC3-841B-1A5E-D50DAED2B4B2}"/>
              </a:ext>
            </a:extLst>
          </p:cNvPr>
          <p:cNvSpPr txBox="1"/>
          <p:nvPr/>
        </p:nvSpPr>
        <p:spPr>
          <a:xfrm>
            <a:off x="554298" y="1249017"/>
            <a:ext cx="980890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spc="-145" dirty="0">
                <a:solidFill>
                  <a:srgbClr val="0F2C68"/>
                </a:solidFill>
                <a:latin typeface="Tahoma"/>
                <a:cs typeface="Tahoma"/>
              </a:rPr>
              <a:t>Разведочный анализ. Топ стран по уровню доверия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4A598AF5-C068-E3C4-6BBA-9F1640228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173884"/>
              </p:ext>
            </p:extLst>
          </p:nvPr>
        </p:nvGraphicFramePr>
        <p:xfrm>
          <a:off x="479240" y="3883371"/>
          <a:ext cx="11028100" cy="17256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05620">
                  <a:extLst>
                    <a:ext uri="{9D8B030D-6E8A-4147-A177-3AD203B41FA5}">
                      <a16:colId xmlns:a16="http://schemas.microsoft.com/office/drawing/2014/main" val="735465248"/>
                    </a:ext>
                  </a:extLst>
                </a:gridCol>
                <a:gridCol w="2205620">
                  <a:extLst>
                    <a:ext uri="{9D8B030D-6E8A-4147-A177-3AD203B41FA5}">
                      <a16:colId xmlns:a16="http://schemas.microsoft.com/office/drawing/2014/main" val="2667550013"/>
                    </a:ext>
                  </a:extLst>
                </a:gridCol>
                <a:gridCol w="2205620">
                  <a:extLst>
                    <a:ext uri="{9D8B030D-6E8A-4147-A177-3AD203B41FA5}">
                      <a16:colId xmlns:a16="http://schemas.microsoft.com/office/drawing/2014/main" val="205120944"/>
                    </a:ext>
                  </a:extLst>
                </a:gridCol>
                <a:gridCol w="2205620">
                  <a:extLst>
                    <a:ext uri="{9D8B030D-6E8A-4147-A177-3AD203B41FA5}">
                      <a16:colId xmlns:a16="http://schemas.microsoft.com/office/drawing/2014/main" val="596097058"/>
                    </a:ext>
                  </a:extLst>
                </a:gridCol>
                <a:gridCol w="2205620">
                  <a:extLst>
                    <a:ext uri="{9D8B030D-6E8A-4147-A177-3AD203B41FA5}">
                      <a16:colId xmlns:a16="http://schemas.microsoft.com/office/drawing/2014/main" val="1750056518"/>
                    </a:ext>
                  </a:extLst>
                </a:gridCol>
              </a:tblGrid>
              <a:tr h="2876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Страна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Среднее значение 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Медиана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Стандартное отклонение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Количество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921254"/>
                  </a:ext>
                </a:extLst>
              </a:tr>
              <a:tr h="2876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Швеция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 dirty="0">
                          <a:effectLst/>
                        </a:rPr>
                        <a:t>6.33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 dirty="0">
                          <a:effectLst/>
                        </a:rPr>
                        <a:t>7.0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 dirty="0">
                          <a:effectLst/>
                        </a:rPr>
                        <a:t>2.06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 dirty="0">
                          <a:effectLst/>
                        </a:rPr>
                        <a:t>1532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0126176"/>
                  </a:ext>
                </a:extLst>
              </a:tr>
              <a:tr h="2876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Исландия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6.57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7.0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2.02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 dirty="0">
                          <a:effectLst/>
                        </a:rPr>
                        <a:t>859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2809971"/>
                  </a:ext>
                </a:extLst>
              </a:tr>
              <a:tr h="2876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Норвегия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6.76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7.0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1.92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 dirty="0">
                          <a:effectLst/>
                        </a:rPr>
                        <a:t>1401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5975863"/>
                  </a:ext>
                </a:extLst>
              </a:tr>
              <a:tr h="2876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Финляндия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6.94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7.0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1.74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 dirty="0">
                          <a:effectLst/>
                        </a:rPr>
                        <a:t>1755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2528256"/>
                  </a:ext>
                </a:extLst>
              </a:tr>
              <a:tr h="28760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Дания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7.06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7.0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1.81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5000"/>
                        </a:lnSpc>
                      </a:pPr>
                      <a:r>
                        <a:rPr lang="ru-RU" sz="1600" dirty="0">
                          <a:effectLst/>
                        </a:rPr>
                        <a:t>1568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645957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75C8918-6AE3-50CB-167B-A758BC6B0E36}"/>
              </a:ext>
            </a:extLst>
          </p:cNvPr>
          <p:cNvSpPr txBox="1"/>
          <p:nvPr/>
        </p:nvSpPr>
        <p:spPr>
          <a:xfrm>
            <a:off x="2107090" y="5785542"/>
            <a:ext cx="81037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95"/>
              </a:spcBef>
            </a:pPr>
            <a:r>
              <a:rPr lang="ru-RU" sz="1600" b="1" dirty="0">
                <a:solidFill>
                  <a:srgbClr val="0E2C68"/>
                </a:solidFill>
                <a:latin typeface="Calibri"/>
                <a:cs typeface="Calibri"/>
              </a:rPr>
              <a:t>Основной вывод</a:t>
            </a: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: Четыре скандинавские страны формируют стабильный верхний сегмент. страны Балкан и отдельные постсоциалистические государства располагаются в нижнем сегменте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98632" y="503046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0F2C69"/>
                </a:solidFill>
                <a:latin typeface="Calibri"/>
                <a:cs typeface="Calibri"/>
              </a:rPr>
              <a:t>7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643868" y="464312"/>
            <a:ext cx="0" cy="586740"/>
          </a:xfrm>
          <a:custGeom>
            <a:avLst/>
            <a:gdLst/>
            <a:ahLst/>
            <a:cxnLst/>
            <a:rect l="l" t="t" r="r" b="b"/>
            <a:pathLst>
              <a:path h="586740">
                <a:moveTo>
                  <a:pt x="0" y="0"/>
                </a:moveTo>
                <a:lnTo>
                  <a:pt x="0" y="586359"/>
                </a:lnTo>
              </a:path>
            </a:pathLst>
          </a:custGeom>
          <a:ln w="12700">
            <a:solidFill>
              <a:srgbClr val="0F2C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47891" y="404622"/>
            <a:ext cx="161671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1000" dirty="0">
                <a:solidFill>
                  <a:srgbClr val="0D2C69"/>
                </a:solidFill>
                <a:latin typeface="Calibri"/>
                <a:cs typeface="Calibri"/>
              </a:rPr>
              <a:t>Н1. Структурный анализ ценностей 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3125" y="1378458"/>
            <a:ext cx="46846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dirty="0">
                <a:solidFill>
                  <a:srgbClr val="0D2C69"/>
                </a:solidFill>
                <a:latin typeface="Calibri"/>
                <a:cs typeface="Calibri"/>
              </a:rPr>
              <a:t>Н1. Структурный анализ ценностей </a:t>
            </a:r>
            <a:endParaRPr sz="2400" dirty="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135275"/>
              </p:ext>
            </p:extLst>
          </p:nvPr>
        </p:nvGraphicFramePr>
        <p:xfrm>
          <a:off x="573125" y="2146298"/>
          <a:ext cx="3058795" cy="33332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58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3331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b="1" spc="-10" dirty="0">
                          <a:solidFill>
                            <a:srgbClr val="0F2C69"/>
                          </a:solidFill>
                          <a:latin typeface="Calibri"/>
                          <a:cs typeface="Calibri"/>
                        </a:rPr>
                        <a:t>Модели</a:t>
                      </a:r>
                      <a:endParaRPr sz="1300" dirty="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R w="317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BEBEBE"/>
                      </a:solidFill>
                      <a:prstDash val="soli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3311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400" spc="-10" dirty="0">
                          <a:solidFill>
                            <a:srgbClr val="0F2C69"/>
                          </a:solidFill>
                          <a:latin typeface="+mn-lt"/>
                          <a:ea typeface="+mn-ea"/>
                          <a:cs typeface="Calibri"/>
                        </a:rPr>
                        <a:t>10-факторная (</a:t>
                      </a:r>
                      <a:r>
                        <a:rPr lang="en" sz="1400" spc="-10" dirty="0">
                          <a:solidFill>
                            <a:srgbClr val="0F2C69"/>
                          </a:solidFill>
                          <a:latin typeface="+mn-lt"/>
                          <a:ea typeface="+mn-ea"/>
                          <a:cs typeface="Calibri"/>
                        </a:rPr>
                        <a:t>Schwartz)</a:t>
                      </a:r>
                    </a:p>
                  </a:txBody>
                  <a:tcPr marL="68580" marR="68580" marT="0" marB="0">
                    <a:lnR w="317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BEBEBE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3311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en" sz="1400" spc="-10" dirty="0">
                          <a:solidFill>
                            <a:srgbClr val="0F2C69"/>
                          </a:solidFill>
                          <a:latin typeface="+mn-lt"/>
                          <a:ea typeface="+mn-ea"/>
                          <a:cs typeface="Calibri"/>
                        </a:rPr>
                        <a:t>Higher-order (10 - 4)</a:t>
                      </a:r>
                    </a:p>
                  </a:txBody>
                  <a:tcPr marL="68580" marR="68580" marT="0" marB="0">
                    <a:lnR w="317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2537475"/>
                  </a:ext>
                </a:extLst>
              </a:tr>
              <a:tr h="833311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400" spc="-10" dirty="0">
                          <a:solidFill>
                            <a:srgbClr val="0F2C69"/>
                          </a:solidFill>
                          <a:latin typeface="+mn-lt"/>
                          <a:ea typeface="+mn-ea"/>
                          <a:cs typeface="Calibri"/>
                        </a:rPr>
                        <a:t>4-факторная плоская</a:t>
                      </a:r>
                    </a:p>
                  </a:txBody>
                  <a:tcPr marL="68580" marR="68580" marT="0" marB="0">
                    <a:lnR w="317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662833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738367"/>
              </p:ext>
            </p:extLst>
          </p:nvPr>
        </p:nvGraphicFramePr>
        <p:xfrm>
          <a:off x="4267200" y="2128887"/>
          <a:ext cx="2931796" cy="36012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1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4291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b="1" spc="-10" dirty="0">
                          <a:solidFill>
                            <a:srgbClr val="0F2C69"/>
                          </a:solidFill>
                          <a:latin typeface="Calibri"/>
                          <a:cs typeface="Calibri"/>
                        </a:rPr>
                        <a:t>Признаки</a:t>
                      </a:r>
                      <a:endParaRPr sz="1300" dirty="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BEBEBE"/>
                      </a:solidFill>
                      <a:prstDash val="soli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602">
                <a:tc>
                  <a:txBody>
                    <a:bodyPr/>
                    <a:lstStyle/>
                    <a:p>
                      <a:pPr marL="9144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ru-RU" sz="1400" spc="-10" dirty="0">
                          <a:solidFill>
                            <a:srgbClr val="0F2C69"/>
                          </a:solidFill>
                          <a:latin typeface="+mn-lt"/>
                          <a:ea typeface="+mn-ea"/>
                          <a:cs typeface="Calibri"/>
                        </a:rPr>
                        <a:t>Десять первичных ценностей </a:t>
                      </a:r>
                    </a:p>
                  </a:txBody>
                  <a:tcPr marL="0" marR="0" marT="34290" marB="0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602">
                <a:tc>
                  <a:txBody>
                    <a:bodyPr/>
                    <a:lstStyle/>
                    <a:p>
                      <a:pPr marL="9144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ru-RU" sz="1400" spc="-10" dirty="0">
                          <a:solidFill>
                            <a:srgbClr val="0F2C69"/>
                          </a:solidFill>
                          <a:latin typeface="+mn-lt"/>
                          <a:ea typeface="+mn-ea"/>
                          <a:cs typeface="Calibri"/>
                        </a:rPr>
                        <a:t>Десять первичных ценностей и второй уровень: четыре группы Шварца моделируются как факторы, нагружающие соответствующие первичные ценности </a:t>
                      </a:r>
                    </a:p>
                  </a:txBody>
                  <a:tcPr marL="0" marR="0" marT="34290" marB="0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9470741"/>
                  </a:ext>
                </a:extLst>
              </a:tr>
              <a:tr h="828602">
                <a:tc>
                  <a:txBody>
                    <a:bodyPr/>
                    <a:lstStyle/>
                    <a:p>
                      <a:pPr marL="9144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ru-RU" sz="1400" spc="-10" dirty="0">
                          <a:solidFill>
                            <a:srgbClr val="0F2C69"/>
                          </a:solidFill>
                          <a:latin typeface="+mn-lt"/>
                          <a:ea typeface="+mn-ea"/>
                          <a:cs typeface="Calibri"/>
                        </a:rPr>
                        <a:t>Моделирует четыре группы сразу</a:t>
                      </a:r>
                    </a:p>
                  </a:txBody>
                  <a:tcPr marL="0" marR="0" marT="34290" marB="0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668108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189880"/>
              </p:ext>
            </p:extLst>
          </p:nvPr>
        </p:nvGraphicFramePr>
        <p:xfrm>
          <a:off x="8235505" y="2169732"/>
          <a:ext cx="2931795" cy="31673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2068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ru-RU" sz="1300" b="1" spc="-10">
                          <a:solidFill>
                            <a:srgbClr val="0F2C69"/>
                          </a:solidFill>
                          <a:latin typeface="Calibri"/>
                          <a:cs typeface="Calibri"/>
                        </a:rPr>
                        <a:t>Метрики</a:t>
                      </a:r>
                      <a:endParaRPr lang="ru-RU" sz="13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R w="317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BEBEBE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47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ru-RU" sz="1400" spc="-10" dirty="0">
                          <a:solidFill>
                            <a:srgbClr val="0F2C69"/>
                          </a:solidFill>
                          <a:latin typeface="+mn-lt"/>
                          <a:cs typeface="Calibri"/>
                        </a:rPr>
                        <a:t>Сравнительный индекс соответствия (</a:t>
                      </a:r>
                      <a:r>
                        <a:rPr lang="en-US" sz="1400" spc="-10" dirty="0">
                          <a:solidFill>
                            <a:srgbClr val="0F2C69"/>
                          </a:solidFill>
                          <a:latin typeface="+mn-lt"/>
                          <a:cs typeface="Calibri"/>
                        </a:rPr>
                        <a:t>CFI</a:t>
                      </a:r>
                      <a:r>
                        <a:rPr lang="ru-RU" sz="1400" spc="-10" dirty="0">
                          <a:solidFill>
                            <a:srgbClr val="0F2C69"/>
                          </a:solidFill>
                          <a:latin typeface="+mn-lt"/>
                          <a:cs typeface="Calibri"/>
                        </a:rPr>
                        <a:t>)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R w="317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BEBEBE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470">
                <a:tc>
                  <a:txBody>
                    <a:bodyPr/>
                    <a:lstStyle/>
                    <a:p>
                      <a:pPr marL="92075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spc="-10" dirty="0">
                          <a:solidFill>
                            <a:srgbClr val="0F2C69"/>
                          </a:solidFill>
                          <a:latin typeface="+mn-lt"/>
                          <a:cs typeface="Calibri"/>
                        </a:rPr>
                        <a:t>Индекс Такера–Льюиса (</a:t>
                      </a:r>
                      <a:r>
                        <a:rPr lang="en-US" sz="1400" spc="-10" dirty="0">
                          <a:solidFill>
                            <a:srgbClr val="0F2C69"/>
                          </a:solidFill>
                          <a:latin typeface="+mn-lt"/>
                          <a:cs typeface="Calibri"/>
                        </a:rPr>
                        <a:t>TLI</a:t>
                      </a:r>
                      <a:r>
                        <a:rPr lang="ru-RU" sz="1400" spc="-10" dirty="0">
                          <a:solidFill>
                            <a:srgbClr val="0F2C69"/>
                          </a:solidFill>
                          <a:latin typeface="+mn-lt"/>
                          <a:cs typeface="Calibri"/>
                        </a:rPr>
                        <a:t>)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R w="317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BEBEBE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189">
                <a:tc>
                  <a:txBody>
                    <a:bodyPr/>
                    <a:lstStyle/>
                    <a:p>
                      <a:pPr marL="92075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spc="-10" dirty="0">
                          <a:solidFill>
                            <a:srgbClr val="0F2C69"/>
                          </a:solidFill>
                          <a:latin typeface="+mn-lt"/>
                          <a:ea typeface="+mn-ea"/>
                          <a:cs typeface="Calibri"/>
                        </a:rPr>
                        <a:t>Корень из среднеквадратичной ошибки аппроксимации</a:t>
                      </a:r>
                      <a:endParaRPr sz="1400" spc="-10" dirty="0">
                        <a:solidFill>
                          <a:srgbClr val="0F2C69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34925" marB="0">
                    <a:lnR w="317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BEBEBE"/>
                      </a:solidFill>
                      <a:prstDash val="soli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189">
                <a:tc>
                  <a:txBody>
                    <a:bodyPr/>
                    <a:lstStyle/>
                    <a:p>
                      <a:pPr marL="92075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spc="-10" dirty="0">
                          <a:solidFill>
                            <a:srgbClr val="0F2C69"/>
                          </a:solidFill>
                          <a:latin typeface="+mn-lt"/>
                          <a:ea typeface="+mn-ea"/>
                          <a:cs typeface="Calibri"/>
                        </a:rPr>
                        <a:t>Стандартизованный корень из среднеквадратичного остатка </a:t>
                      </a:r>
                      <a:endParaRPr sz="1400" spc="-10" dirty="0">
                        <a:solidFill>
                          <a:srgbClr val="0F2C69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34925" marB="0">
                    <a:lnR w="317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BEBEBE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9539620"/>
                  </a:ext>
                </a:extLst>
              </a:tr>
            </a:tbl>
          </a:graphicData>
        </a:graphic>
      </p:graphicFrame>
      <p:sp>
        <p:nvSpPr>
          <p:cNvPr id="16" name="object 7">
            <a:extLst>
              <a:ext uri="{FF2B5EF4-FFF2-40B4-BE49-F238E27FC236}">
                <a16:creationId xmlns:a16="http://schemas.microsoft.com/office/drawing/2014/main" id="{5EAE4C43-0BEE-99AE-FF36-ADAA7A3D6987}"/>
              </a:ext>
            </a:extLst>
          </p:cNvPr>
          <p:cNvSpPr txBox="1"/>
          <p:nvPr/>
        </p:nvSpPr>
        <p:spPr>
          <a:xfrm>
            <a:off x="1131214" y="520699"/>
            <a:ext cx="141986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000" dirty="0">
                <a:solidFill>
                  <a:srgbClr val="0D2C69"/>
                </a:solidFill>
                <a:latin typeface="Calibri"/>
                <a:cs typeface="Calibri"/>
              </a:rPr>
              <a:t>Анализ больших данных</a:t>
            </a:r>
            <a:endParaRPr lang="ru-RU" sz="1000" dirty="0">
              <a:latin typeface="Calibri"/>
              <a:cs typeface="Calibri"/>
            </a:endParaRPr>
          </a:p>
        </p:txBody>
      </p:sp>
      <p:sp>
        <p:nvSpPr>
          <p:cNvPr id="17" name="object 5">
            <a:extLst>
              <a:ext uri="{FF2B5EF4-FFF2-40B4-BE49-F238E27FC236}">
                <a16:creationId xmlns:a16="http://schemas.microsoft.com/office/drawing/2014/main" id="{2F969C32-4C5C-F3AF-29C1-64D022190503}"/>
              </a:ext>
            </a:extLst>
          </p:cNvPr>
          <p:cNvSpPr txBox="1"/>
          <p:nvPr/>
        </p:nvSpPr>
        <p:spPr>
          <a:xfrm>
            <a:off x="3436023" y="422626"/>
            <a:ext cx="211612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1000" spc="-10" dirty="0">
                <a:solidFill>
                  <a:srgbClr val="0D2C69"/>
                </a:solidFill>
                <a:latin typeface="Calibri"/>
                <a:cs typeface="Calibri"/>
              </a:rPr>
              <a:t>Ценности и личностные приоритеты граждан Европы: кросс-национальный анализ структуры базовых ценностей на данных </a:t>
            </a:r>
            <a:r>
              <a:rPr lang="en" sz="1000" spc="-10" dirty="0">
                <a:solidFill>
                  <a:srgbClr val="0D2C69"/>
                </a:solidFill>
                <a:latin typeface="Calibri"/>
                <a:cs typeface="Calibri"/>
              </a:rPr>
              <a:t>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98632" y="503046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0F2C69"/>
                </a:solidFill>
                <a:latin typeface="Calibri"/>
                <a:cs typeface="Calibri"/>
              </a:rPr>
              <a:t>7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643868" y="464312"/>
            <a:ext cx="0" cy="586740"/>
          </a:xfrm>
          <a:custGeom>
            <a:avLst/>
            <a:gdLst/>
            <a:ahLst/>
            <a:cxnLst/>
            <a:rect l="l" t="t" r="r" b="b"/>
            <a:pathLst>
              <a:path h="586740">
                <a:moveTo>
                  <a:pt x="0" y="0"/>
                </a:moveTo>
                <a:lnTo>
                  <a:pt x="0" y="586359"/>
                </a:lnTo>
              </a:path>
            </a:pathLst>
          </a:custGeom>
          <a:ln w="12700">
            <a:solidFill>
              <a:srgbClr val="0F2C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47891" y="404622"/>
            <a:ext cx="161671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1000" dirty="0">
                <a:solidFill>
                  <a:srgbClr val="0D2C69"/>
                </a:solidFill>
                <a:latin typeface="Calibri"/>
                <a:cs typeface="Calibri"/>
              </a:rPr>
              <a:t>Структурный анализ ценностей 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3125" y="1378458"/>
            <a:ext cx="46846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dirty="0">
                <a:solidFill>
                  <a:srgbClr val="0D2C69"/>
                </a:solidFill>
                <a:latin typeface="Calibri"/>
                <a:cs typeface="Calibri"/>
              </a:rPr>
              <a:t>Структурный анализ ценностей </a:t>
            </a:r>
            <a:endParaRPr sz="2400" dirty="0">
              <a:latin typeface="Calibri"/>
              <a:cs typeface="Calibri"/>
            </a:endParaRP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5C2FA432-EBD8-EE90-0F48-1C4B5C1B70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257780"/>
              </p:ext>
            </p:extLst>
          </p:nvPr>
        </p:nvGraphicFramePr>
        <p:xfrm>
          <a:off x="2432683" y="2617116"/>
          <a:ext cx="6096001" cy="11238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25968">
                  <a:extLst>
                    <a:ext uri="{9D8B030D-6E8A-4147-A177-3AD203B41FA5}">
                      <a16:colId xmlns:a16="http://schemas.microsoft.com/office/drawing/2014/main" val="3614012666"/>
                    </a:ext>
                  </a:extLst>
                </a:gridCol>
                <a:gridCol w="844062">
                  <a:extLst>
                    <a:ext uri="{9D8B030D-6E8A-4147-A177-3AD203B41FA5}">
                      <a16:colId xmlns:a16="http://schemas.microsoft.com/office/drawing/2014/main" val="1875219854"/>
                    </a:ext>
                  </a:extLst>
                </a:gridCol>
                <a:gridCol w="844062">
                  <a:extLst>
                    <a:ext uri="{9D8B030D-6E8A-4147-A177-3AD203B41FA5}">
                      <a16:colId xmlns:a16="http://schemas.microsoft.com/office/drawing/2014/main" val="3491747980"/>
                    </a:ext>
                  </a:extLst>
                </a:gridCol>
                <a:gridCol w="937847">
                  <a:extLst>
                    <a:ext uri="{9D8B030D-6E8A-4147-A177-3AD203B41FA5}">
                      <a16:colId xmlns:a16="http://schemas.microsoft.com/office/drawing/2014/main" val="4027767044"/>
                    </a:ext>
                  </a:extLst>
                </a:gridCol>
                <a:gridCol w="844062">
                  <a:extLst>
                    <a:ext uri="{9D8B030D-6E8A-4147-A177-3AD203B41FA5}">
                      <a16:colId xmlns:a16="http://schemas.microsoft.com/office/drawing/2014/main" val="6027328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600" dirty="0">
                          <a:effectLst/>
                        </a:rPr>
                        <a:t>Модель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600" dirty="0">
                          <a:effectLst/>
                        </a:rPr>
                        <a:t>CFI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TLI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600" dirty="0">
                          <a:effectLst/>
                        </a:rPr>
                        <a:t>RMSEA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600" dirty="0">
                          <a:effectLst/>
                        </a:rPr>
                        <a:t>SRMR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114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600" dirty="0">
                          <a:effectLst/>
                        </a:rPr>
                        <a:t>10-факторная (</a:t>
                      </a:r>
                      <a:r>
                        <a:rPr lang="ru-RU" sz="1600" dirty="0" err="1">
                          <a:effectLst/>
                        </a:rPr>
                        <a:t>Schwartz</a:t>
                      </a:r>
                      <a:r>
                        <a:rPr lang="ru-RU" sz="1600" dirty="0">
                          <a:effectLst/>
                        </a:rPr>
                        <a:t>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0,906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0,881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600" dirty="0">
                          <a:effectLst/>
                        </a:rPr>
                        <a:t>0,058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0,050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2466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600" dirty="0" err="1">
                          <a:effectLst/>
                        </a:rPr>
                        <a:t>Higher-order</a:t>
                      </a:r>
                      <a:r>
                        <a:rPr lang="ru-RU" sz="1600" dirty="0">
                          <a:effectLst/>
                        </a:rPr>
                        <a:t> (10 - 4)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0,864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0,843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0,067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0,061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7568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600" dirty="0">
                          <a:effectLst/>
                        </a:rPr>
                        <a:t>4-факторная плоская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600" dirty="0">
                          <a:effectLst/>
                        </a:rPr>
                        <a:t>0,853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600">
                          <a:effectLst/>
                        </a:rPr>
                        <a:t>0,832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600" dirty="0">
                          <a:effectLst/>
                        </a:rPr>
                        <a:t>0,068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600" dirty="0">
                          <a:effectLst/>
                        </a:rPr>
                        <a:t>0,063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835271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76F7C04-C34B-002C-D79D-DC7E146E8F0C}"/>
              </a:ext>
            </a:extLst>
          </p:cNvPr>
          <p:cNvSpPr txBox="1"/>
          <p:nvPr/>
        </p:nvSpPr>
        <p:spPr>
          <a:xfrm>
            <a:off x="2432683" y="4215093"/>
            <a:ext cx="6096001" cy="1818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b="1" dirty="0">
                <a:solidFill>
                  <a:srgbClr val="0E2C68"/>
                </a:solidFill>
                <a:latin typeface="Calibri"/>
                <a:cs typeface="Calibri"/>
              </a:rPr>
              <a:t>Основной</a:t>
            </a:r>
            <a:r>
              <a:rPr lang="ru-RU" b="1" spc="-75" dirty="0">
                <a:solidFill>
                  <a:srgbClr val="0E2C68"/>
                </a:solidFill>
                <a:latin typeface="Calibri"/>
                <a:cs typeface="Calibri"/>
              </a:rPr>
              <a:t> </a:t>
            </a:r>
            <a:r>
              <a:rPr lang="ru-RU" b="1" spc="-10" dirty="0">
                <a:solidFill>
                  <a:srgbClr val="0E2C68"/>
                </a:solidFill>
                <a:latin typeface="Calibri"/>
                <a:cs typeface="Calibri"/>
              </a:rPr>
              <a:t>вывод:</a:t>
            </a:r>
            <a:endParaRPr lang="ru-RU" dirty="0">
              <a:latin typeface="Calibri"/>
              <a:cs typeface="Calibri"/>
            </a:endParaRPr>
          </a:p>
          <a:p>
            <a:pPr marL="12700">
              <a:spcBef>
                <a:spcPts val="1685"/>
              </a:spcBef>
              <a:tabLst>
                <a:tab pos="299085" algn="l"/>
              </a:tabLst>
            </a:pP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10 первичных ценностей - более точное представление данных, чем 4 высших измерения. При этом 10 сильно коррелирующих предикторов неэффективно использовать в многоуровневой модели, поэтому мы агрегируем их до 4 композитных индексов. Гипотеза 1 подтверждена.</a:t>
            </a:r>
          </a:p>
        </p:txBody>
      </p:sp>
      <p:sp>
        <p:nvSpPr>
          <p:cNvPr id="15" name="object 7">
            <a:extLst>
              <a:ext uri="{FF2B5EF4-FFF2-40B4-BE49-F238E27FC236}">
                <a16:creationId xmlns:a16="http://schemas.microsoft.com/office/drawing/2014/main" id="{6C87EB6D-25D9-CF78-60E3-E97E67D6BF24}"/>
              </a:ext>
            </a:extLst>
          </p:cNvPr>
          <p:cNvSpPr txBox="1"/>
          <p:nvPr/>
        </p:nvSpPr>
        <p:spPr>
          <a:xfrm>
            <a:off x="1131214" y="520699"/>
            <a:ext cx="141986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000" dirty="0">
                <a:solidFill>
                  <a:srgbClr val="0D2C69"/>
                </a:solidFill>
                <a:latin typeface="Calibri"/>
                <a:cs typeface="Calibri"/>
              </a:rPr>
              <a:t>Анализ больших данных</a:t>
            </a:r>
            <a:endParaRPr lang="ru-RU" sz="1000" dirty="0">
              <a:latin typeface="Calibri"/>
              <a:cs typeface="Calibri"/>
            </a:endParaRPr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D458B6EE-9354-5315-5369-8A1DB64DAA37}"/>
              </a:ext>
            </a:extLst>
          </p:cNvPr>
          <p:cNvSpPr txBox="1"/>
          <p:nvPr/>
        </p:nvSpPr>
        <p:spPr>
          <a:xfrm>
            <a:off x="3436023" y="422626"/>
            <a:ext cx="211612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1000" spc="-10" dirty="0">
                <a:solidFill>
                  <a:srgbClr val="0D2C69"/>
                </a:solidFill>
                <a:latin typeface="Calibri"/>
                <a:cs typeface="Calibri"/>
              </a:rPr>
              <a:t>Ценности и личностные приоритеты граждан Европы: кросс-национальный анализ структуры базовых ценностей на данных </a:t>
            </a:r>
            <a:r>
              <a:rPr lang="en" sz="1000" spc="-10" dirty="0">
                <a:solidFill>
                  <a:srgbClr val="0D2C69"/>
                </a:solidFill>
                <a:latin typeface="Calibri"/>
                <a:cs typeface="Calibri"/>
              </a:rPr>
              <a:t>ESS</a:t>
            </a:r>
          </a:p>
        </p:txBody>
      </p:sp>
    </p:spTree>
    <p:extLst>
      <p:ext uri="{BB962C8B-B14F-4D97-AF65-F5344CB8AC3E}">
        <p14:creationId xmlns:p14="http://schemas.microsoft.com/office/powerpoint/2010/main" val="2698658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98632" y="503046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0F2C69"/>
                </a:solidFill>
                <a:latin typeface="Calibri"/>
                <a:cs typeface="Calibri"/>
              </a:rPr>
              <a:t>9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712" y="1393647"/>
            <a:ext cx="7301688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ru-RU" sz="2400" dirty="0">
                <a:solidFill>
                  <a:srgbClr val="0E2C68"/>
                </a:solidFill>
                <a:latin typeface="Calibri"/>
                <a:cs typeface="Calibri"/>
              </a:rPr>
              <a:t>Проверка структуры ценностей по странам</a:t>
            </a:r>
            <a:endParaRPr lang="ru-RU" sz="2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47891" y="435355"/>
            <a:ext cx="1219709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ru-RU" sz="1000" dirty="0">
                <a:solidFill>
                  <a:srgbClr val="0E2C68"/>
                </a:solidFill>
                <a:latin typeface="Calibri"/>
                <a:cs typeface="Calibri"/>
              </a:rPr>
              <a:t>Проверка структуры ценностей по странам</a:t>
            </a:r>
            <a:endParaRPr lang="ru-RU" sz="10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8086" y="5605068"/>
            <a:ext cx="1081194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E2C68"/>
                </a:solidFill>
                <a:latin typeface="Calibri"/>
                <a:cs typeface="Calibri"/>
              </a:rPr>
              <a:t>Вывод</a:t>
            </a:r>
            <a:r>
              <a:rPr sz="1400" dirty="0">
                <a:solidFill>
                  <a:srgbClr val="0E2C68"/>
                </a:solidFill>
                <a:latin typeface="Calibri"/>
                <a:cs typeface="Calibri"/>
              </a:rPr>
              <a:t>:</a:t>
            </a:r>
            <a:r>
              <a:rPr sz="1400" spc="-35" dirty="0">
                <a:solidFill>
                  <a:srgbClr val="0E2C68"/>
                </a:solidFill>
                <a:latin typeface="Calibri"/>
                <a:cs typeface="Calibri"/>
              </a:rPr>
              <a:t> </a:t>
            </a:r>
            <a:r>
              <a:rPr lang="ru-RU" sz="1400" dirty="0">
                <a:solidFill>
                  <a:srgbClr val="0E2C68"/>
                </a:solidFill>
                <a:latin typeface="Calibri"/>
                <a:cs typeface="Calibri"/>
              </a:rPr>
              <a:t>Структура воспроизводится в 28 странах из 29 с </a:t>
            </a:r>
            <a:r>
              <a:rPr lang="en" sz="1400" dirty="0">
                <a:solidFill>
                  <a:srgbClr val="0E2C68"/>
                </a:solidFill>
                <a:latin typeface="Calibri"/>
                <a:cs typeface="Calibri"/>
              </a:rPr>
              <a:t>CFI &gt;= 0.85. </a:t>
            </a:r>
            <a:r>
              <a:rPr lang="ru-RU" sz="1400" dirty="0">
                <a:solidFill>
                  <a:srgbClr val="0E2C68"/>
                </a:solidFill>
                <a:latin typeface="Calibri"/>
                <a:cs typeface="Calibri"/>
              </a:rPr>
              <a:t>Строгий порог </a:t>
            </a:r>
            <a:r>
              <a:rPr lang="en" sz="1400" dirty="0">
                <a:solidFill>
                  <a:srgbClr val="0E2C68"/>
                </a:solidFill>
                <a:latin typeface="Calibri"/>
                <a:cs typeface="Calibri"/>
              </a:rPr>
              <a:t>CFI = 0.90 </a:t>
            </a:r>
            <a:r>
              <a:rPr lang="ru-RU" sz="1400" dirty="0">
                <a:solidFill>
                  <a:srgbClr val="0E2C68"/>
                </a:solidFill>
                <a:latin typeface="Calibri"/>
                <a:cs typeface="Calibri"/>
              </a:rPr>
              <a:t>достигается в 7 странах, остальные лежат в зоне 0.85-0.90. Единственная страна с маргинальным результатом - Словения (</a:t>
            </a:r>
            <a:r>
              <a:rPr lang="en" sz="1400" dirty="0">
                <a:solidFill>
                  <a:srgbClr val="0E2C68"/>
                </a:solidFill>
                <a:latin typeface="Calibri"/>
                <a:cs typeface="Calibri"/>
              </a:rPr>
              <a:t>CFI = 0.840)</a:t>
            </a:r>
            <a:r>
              <a:rPr lang="ru-RU" sz="1400" dirty="0">
                <a:solidFill>
                  <a:srgbClr val="0E2C68"/>
                </a:solidFill>
                <a:latin typeface="Calibri"/>
                <a:cs typeface="Calibri"/>
              </a:rPr>
              <a:t>. Вторая гипотеза подтверждена.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58FD8E4-66B9-91BA-3F3E-0BF20E4D4F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7"/>
          <a:stretch/>
        </p:blipFill>
        <p:spPr>
          <a:xfrm>
            <a:off x="609600" y="2099094"/>
            <a:ext cx="10690429" cy="3286115"/>
          </a:xfrm>
          <a:prstGeom prst="rect">
            <a:avLst/>
          </a:prstGeom>
        </p:spPr>
      </p:pic>
      <p:sp>
        <p:nvSpPr>
          <p:cNvPr id="15" name="object 7">
            <a:extLst>
              <a:ext uri="{FF2B5EF4-FFF2-40B4-BE49-F238E27FC236}">
                <a16:creationId xmlns:a16="http://schemas.microsoft.com/office/drawing/2014/main" id="{37DD82DC-0913-BC75-77EF-445D2934648D}"/>
              </a:ext>
            </a:extLst>
          </p:cNvPr>
          <p:cNvSpPr txBox="1"/>
          <p:nvPr/>
        </p:nvSpPr>
        <p:spPr>
          <a:xfrm>
            <a:off x="1131214" y="520699"/>
            <a:ext cx="141986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000" dirty="0">
                <a:solidFill>
                  <a:srgbClr val="0D2C69"/>
                </a:solidFill>
                <a:latin typeface="Calibri"/>
                <a:cs typeface="Calibri"/>
              </a:rPr>
              <a:t>Анализ больших данных</a:t>
            </a:r>
            <a:endParaRPr lang="ru-RU" sz="1000" dirty="0">
              <a:latin typeface="Calibri"/>
              <a:cs typeface="Calibri"/>
            </a:endParaRPr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CA90B3FE-F2A1-5A6C-1BF5-62E0DCA97750}"/>
              </a:ext>
            </a:extLst>
          </p:cNvPr>
          <p:cNvSpPr txBox="1"/>
          <p:nvPr/>
        </p:nvSpPr>
        <p:spPr>
          <a:xfrm>
            <a:off x="3436023" y="422626"/>
            <a:ext cx="211612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1000" spc="-10" dirty="0">
                <a:solidFill>
                  <a:srgbClr val="0D2C69"/>
                </a:solidFill>
                <a:latin typeface="Calibri"/>
                <a:cs typeface="Calibri"/>
              </a:rPr>
              <a:t>Ценности и личностные приоритеты граждан Европы: кросс-национальный анализ структуры базовых ценностей на данных </a:t>
            </a:r>
            <a:r>
              <a:rPr lang="en" sz="1000" spc="-10" dirty="0">
                <a:solidFill>
                  <a:srgbClr val="0D2C69"/>
                </a:solidFill>
                <a:latin typeface="Calibri"/>
                <a:cs typeface="Calibri"/>
              </a:rPr>
              <a:t>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98632" y="503046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0F2C69"/>
                </a:solidFill>
                <a:latin typeface="Calibri"/>
                <a:cs typeface="Calibri"/>
              </a:rPr>
              <a:t>9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712" y="1393647"/>
            <a:ext cx="7301688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ru-RU" sz="2400" dirty="0">
                <a:solidFill>
                  <a:srgbClr val="0E2C68"/>
                </a:solidFill>
                <a:latin typeface="Calibri"/>
                <a:cs typeface="Calibri"/>
              </a:rPr>
              <a:t>Метрическая инвариантность </a:t>
            </a:r>
            <a:endParaRPr lang="ru-RU" sz="2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47891" y="435355"/>
            <a:ext cx="1221131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ru-RU" sz="1000" dirty="0">
                <a:solidFill>
                  <a:srgbClr val="0E2C68"/>
                </a:solidFill>
                <a:latin typeface="Calibri"/>
                <a:cs typeface="Calibri"/>
              </a:rPr>
              <a:t>Метрическая инвариантность </a:t>
            </a:r>
            <a:endParaRPr lang="ru-RU" sz="10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8086" y="5605068"/>
            <a:ext cx="10811943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E2C68"/>
                </a:solidFill>
                <a:latin typeface="Calibri"/>
                <a:cs typeface="Calibri"/>
              </a:rPr>
              <a:t>Вывод</a:t>
            </a:r>
            <a:r>
              <a:rPr sz="1400" dirty="0">
                <a:solidFill>
                  <a:srgbClr val="0E2C68"/>
                </a:solidFill>
                <a:latin typeface="Calibri"/>
                <a:cs typeface="Calibri"/>
              </a:rPr>
              <a:t>:</a:t>
            </a:r>
            <a:r>
              <a:rPr sz="1400" spc="-35" dirty="0">
                <a:solidFill>
                  <a:srgbClr val="0E2C68"/>
                </a:solidFill>
                <a:latin typeface="Calibri"/>
                <a:cs typeface="Calibri"/>
              </a:rPr>
              <a:t> </a:t>
            </a:r>
            <a:r>
              <a:rPr lang="ru-RU" sz="1400" dirty="0">
                <a:solidFill>
                  <a:srgbClr val="0E2C68"/>
                </a:solidFill>
                <a:latin typeface="Calibri"/>
                <a:cs typeface="Calibri"/>
              </a:rPr>
              <a:t>Структура воспроизводится в 9 атрибутах из 11. Вторая гипотеза подтверждается частично.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5" name="object 7">
            <a:extLst>
              <a:ext uri="{FF2B5EF4-FFF2-40B4-BE49-F238E27FC236}">
                <a16:creationId xmlns:a16="http://schemas.microsoft.com/office/drawing/2014/main" id="{37DD82DC-0913-BC75-77EF-445D2934648D}"/>
              </a:ext>
            </a:extLst>
          </p:cNvPr>
          <p:cNvSpPr txBox="1"/>
          <p:nvPr/>
        </p:nvSpPr>
        <p:spPr>
          <a:xfrm>
            <a:off x="1131214" y="520699"/>
            <a:ext cx="141986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000" dirty="0">
                <a:solidFill>
                  <a:srgbClr val="0D2C69"/>
                </a:solidFill>
                <a:latin typeface="Calibri"/>
                <a:cs typeface="Calibri"/>
              </a:rPr>
              <a:t>Анализ больших данных</a:t>
            </a:r>
            <a:endParaRPr lang="ru-RU" sz="1000" dirty="0">
              <a:latin typeface="Calibri"/>
              <a:cs typeface="Calibri"/>
            </a:endParaRPr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CA90B3FE-F2A1-5A6C-1BF5-62E0DCA97750}"/>
              </a:ext>
            </a:extLst>
          </p:cNvPr>
          <p:cNvSpPr txBox="1"/>
          <p:nvPr/>
        </p:nvSpPr>
        <p:spPr>
          <a:xfrm>
            <a:off x="3436023" y="422626"/>
            <a:ext cx="211612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1000" spc="-10" dirty="0">
                <a:solidFill>
                  <a:srgbClr val="0D2C69"/>
                </a:solidFill>
                <a:latin typeface="Calibri"/>
                <a:cs typeface="Calibri"/>
              </a:rPr>
              <a:t>Ценности и личностные приоритеты граждан Европы: кросс-национальный анализ структуры базовых ценностей на данных </a:t>
            </a:r>
            <a:r>
              <a:rPr lang="en" sz="1000" spc="-10" dirty="0">
                <a:solidFill>
                  <a:srgbClr val="0D2C69"/>
                </a:solidFill>
                <a:latin typeface="Calibri"/>
                <a:cs typeface="Calibri"/>
              </a:rPr>
              <a:t>ESS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9F17A17-F56D-E1AA-9300-A293FF55F4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52"/>
          <a:stretch/>
        </p:blipFill>
        <p:spPr>
          <a:xfrm>
            <a:off x="2007857" y="1981200"/>
            <a:ext cx="7772400" cy="327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837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98632" y="503046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0F2C69"/>
                </a:solidFill>
                <a:latin typeface="Calibri"/>
                <a:cs typeface="Calibri"/>
              </a:rPr>
              <a:t>9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712" y="1393647"/>
            <a:ext cx="7301688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ru-RU" sz="2400" dirty="0">
                <a:solidFill>
                  <a:srgbClr val="0E2C68"/>
                </a:solidFill>
                <a:latin typeface="Calibri"/>
                <a:cs typeface="Calibri"/>
              </a:rPr>
              <a:t>Моделирование социального доверия </a:t>
            </a:r>
            <a:endParaRPr lang="ru-RU" sz="2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47891" y="435355"/>
            <a:ext cx="1221131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ru-RU" sz="1000" dirty="0">
                <a:solidFill>
                  <a:srgbClr val="0E2C68"/>
                </a:solidFill>
                <a:latin typeface="Calibri"/>
                <a:cs typeface="Calibri"/>
              </a:rPr>
              <a:t>Метрическая инвариантность </a:t>
            </a:r>
            <a:endParaRPr lang="ru-RU" sz="1000" dirty="0">
              <a:latin typeface="Calibri"/>
              <a:cs typeface="Calibri"/>
            </a:endParaRPr>
          </a:p>
        </p:txBody>
      </p:sp>
      <p:sp>
        <p:nvSpPr>
          <p:cNvPr id="15" name="object 7">
            <a:extLst>
              <a:ext uri="{FF2B5EF4-FFF2-40B4-BE49-F238E27FC236}">
                <a16:creationId xmlns:a16="http://schemas.microsoft.com/office/drawing/2014/main" id="{37DD82DC-0913-BC75-77EF-445D2934648D}"/>
              </a:ext>
            </a:extLst>
          </p:cNvPr>
          <p:cNvSpPr txBox="1"/>
          <p:nvPr/>
        </p:nvSpPr>
        <p:spPr>
          <a:xfrm>
            <a:off x="1131214" y="520699"/>
            <a:ext cx="141986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000" dirty="0">
                <a:solidFill>
                  <a:srgbClr val="0D2C69"/>
                </a:solidFill>
                <a:latin typeface="Calibri"/>
                <a:cs typeface="Calibri"/>
              </a:rPr>
              <a:t>Анализ больших данных</a:t>
            </a:r>
            <a:endParaRPr lang="ru-RU" sz="1000" dirty="0">
              <a:latin typeface="Calibri"/>
              <a:cs typeface="Calibri"/>
            </a:endParaRPr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CA90B3FE-F2A1-5A6C-1BF5-62E0DCA97750}"/>
              </a:ext>
            </a:extLst>
          </p:cNvPr>
          <p:cNvSpPr txBox="1"/>
          <p:nvPr/>
        </p:nvSpPr>
        <p:spPr>
          <a:xfrm>
            <a:off x="3436023" y="422626"/>
            <a:ext cx="211612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1000" spc="-10" dirty="0">
                <a:solidFill>
                  <a:srgbClr val="0D2C69"/>
                </a:solidFill>
                <a:latin typeface="Calibri"/>
                <a:cs typeface="Calibri"/>
              </a:rPr>
              <a:t>Ценности и личностные приоритеты граждан Европы: кросс-национальный анализ структуры базовых ценностей на данных </a:t>
            </a:r>
            <a:r>
              <a:rPr lang="en" sz="1000" spc="-10" dirty="0">
                <a:solidFill>
                  <a:srgbClr val="0D2C69"/>
                </a:solidFill>
                <a:latin typeface="Calibri"/>
                <a:cs typeface="Calibri"/>
              </a:rPr>
              <a:t>ESS</a:t>
            </a:r>
          </a:p>
        </p:txBody>
      </p:sp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67471913-91C7-9AD0-742C-6E01B3C799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7158862"/>
              </p:ext>
            </p:extLst>
          </p:nvPr>
        </p:nvGraphicFramePr>
        <p:xfrm>
          <a:off x="5105400" y="1462191"/>
          <a:ext cx="7086600" cy="494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206B5CE-97B7-3FEE-8D44-DF7DB2003B8E}"/>
              </a:ext>
            </a:extLst>
          </p:cNvPr>
          <p:cNvSpPr txBox="1"/>
          <p:nvPr/>
        </p:nvSpPr>
        <p:spPr>
          <a:xfrm>
            <a:off x="876300" y="2832406"/>
            <a:ext cx="372958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1685"/>
              </a:spcBef>
              <a:tabLst>
                <a:tab pos="299085" algn="l"/>
              </a:tabLst>
            </a:pP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К одной и той же задаче (предсказание и объяснение индивидуального уровня </a:t>
            </a:r>
            <a:r>
              <a:rPr lang="en" sz="1600" dirty="0" err="1">
                <a:solidFill>
                  <a:srgbClr val="0E2C68"/>
                </a:solidFill>
                <a:latin typeface="Calibri"/>
                <a:cs typeface="Calibri"/>
              </a:rPr>
              <a:t>ppltrst</a:t>
            </a:r>
            <a:r>
              <a:rPr lang="en" sz="1600" dirty="0">
                <a:solidFill>
                  <a:srgbClr val="0E2C68"/>
                </a:solidFill>
                <a:latin typeface="Calibri"/>
                <a:cs typeface="Calibri"/>
              </a:rPr>
              <a:t> </a:t>
            </a: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по 15 признакам: 4 композитных ценности + 3 </a:t>
            </a:r>
            <a:r>
              <a:rPr lang="ru-RU" sz="1600" dirty="0" err="1">
                <a:solidFill>
                  <a:srgbClr val="0E2C68"/>
                </a:solidFill>
                <a:latin typeface="Calibri"/>
                <a:cs typeface="Calibri"/>
              </a:rPr>
              <a:t>медиапеременные</a:t>
            </a: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 + 5 демографических + 3 страновых + </a:t>
            </a:r>
            <a:r>
              <a:rPr lang="en" sz="1600" dirty="0" err="1">
                <a:solidFill>
                  <a:srgbClr val="0E2C68"/>
                </a:solidFill>
                <a:latin typeface="Calibri"/>
                <a:cs typeface="Calibri"/>
              </a:rPr>
              <a:t>gndr</a:t>
            </a:r>
            <a:r>
              <a:rPr lang="en" sz="1600" dirty="0">
                <a:solidFill>
                  <a:srgbClr val="0E2C68"/>
                </a:solidFill>
                <a:latin typeface="Calibri"/>
                <a:cs typeface="Calibri"/>
              </a:rPr>
              <a:t> </a:t>
            </a: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мы применяем два независимых методологических подхода </a:t>
            </a:r>
          </a:p>
        </p:txBody>
      </p:sp>
    </p:spTree>
    <p:extLst>
      <p:ext uri="{BB962C8B-B14F-4D97-AF65-F5344CB8AC3E}">
        <p14:creationId xmlns:p14="http://schemas.microsoft.com/office/powerpoint/2010/main" val="463634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98632" y="503046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0F2C69"/>
                </a:solidFill>
                <a:latin typeface="Calibri"/>
                <a:cs typeface="Calibri"/>
              </a:rPr>
              <a:t>7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643868" y="464312"/>
            <a:ext cx="0" cy="586740"/>
          </a:xfrm>
          <a:custGeom>
            <a:avLst/>
            <a:gdLst/>
            <a:ahLst/>
            <a:cxnLst/>
            <a:rect l="l" t="t" r="r" b="b"/>
            <a:pathLst>
              <a:path h="586740">
                <a:moveTo>
                  <a:pt x="0" y="0"/>
                </a:moveTo>
                <a:lnTo>
                  <a:pt x="0" y="586359"/>
                </a:lnTo>
              </a:path>
            </a:pathLst>
          </a:custGeom>
          <a:ln w="12700">
            <a:solidFill>
              <a:srgbClr val="0F2C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47891" y="404622"/>
            <a:ext cx="161671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000" dirty="0">
                <a:solidFill>
                  <a:srgbClr val="0D2C69"/>
                </a:solidFill>
                <a:latin typeface="Calibri"/>
                <a:cs typeface="Calibri"/>
              </a:rPr>
              <a:t>Моделирование социального доверия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73125" y="1378458"/>
            <a:ext cx="52180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dirty="0">
                <a:solidFill>
                  <a:srgbClr val="0D2C69"/>
                </a:solidFill>
                <a:latin typeface="Calibri"/>
                <a:cs typeface="Calibri"/>
              </a:rPr>
              <a:t>Моделирование социального доверия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6F7C04-C34B-002C-D79D-DC7E146E8F0C}"/>
              </a:ext>
            </a:extLst>
          </p:cNvPr>
          <p:cNvSpPr txBox="1"/>
          <p:nvPr/>
        </p:nvSpPr>
        <p:spPr>
          <a:xfrm>
            <a:off x="2394583" y="4392842"/>
            <a:ext cx="6825620" cy="2064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b="1" dirty="0">
                <a:solidFill>
                  <a:srgbClr val="0E2C68"/>
                </a:solidFill>
                <a:latin typeface="Calibri"/>
                <a:cs typeface="Calibri"/>
              </a:rPr>
              <a:t>Основной</a:t>
            </a:r>
            <a:r>
              <a:rPr lang="ru-RU" b="1" spc="-75" dirty="0">
                <a:solidFill>
                  <a:srgbClr val="0E2C68"/>
                </a:solidFill>
                <a:latin typeface="Calibri"/>
                <a:cs typeface="Calibri"/>
              </a:rPr>
              <a:t> </a:t>
            </a:r>
            <a:r>
              <a:rPr lang="ru-RU" b="1" spc="-10" dirty="0">
                <a:solidFill>
                  <a:srgbClr val="0E2C68"/>
                </a:solidFill>
                <a:latin typeface="Calibri"/>
                <a:cs typeface="Calibri"/>
              </a:rPr>
              <a:t>вывод:</a:t>
            </a:r>
            <a:endParaRPr lang="ru-RU" dirty="0">
              <a:latin typeface="Calibri"/>
              <a:cs typeface="Calibri"/>
            </a:endParaRPr>
          </a:p>
          <a:p>
            <a:pPr marL="12700">
              <a:spcBef>
                <a:spcPts val="1685"/>
              </a:spcBef>
              <a:tabLst>
                <a:tab pos="299085" algn="l"/>
              </a:tabLst>
            </a:pP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Нелинейные модели дают прирост </a:t>
            </a:r>
            <a:r>
              <a:rPr lang="en" sz="1600" dirty="0">
                <a:solidFill>
                  <a:srgbClr val="0E2C68"/>
                </a:solidFill>
                <a:latin typeface="Calibri"/>
                <a:cs typeface="Calibri"/>
              </a:rPr>
              <a:t>test R² </a:t>
            </a: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на 0.04-0.05 над </a:t>
            </a:r>
            <a:r>
              <a:rPr lang="en" sz="1600" dirty="0">
                <a:solidFill>
                  <a:srgbClr val="0E2C68"/>
                </a:solidFill>
                <a:latin typeface="Calibri"/>
                <a:cs typeface="Calibri"/>
              </a:rPr>
              <a:t>OLS (0.19 </a:t>
            </a: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против 0.14). Ценой - более существенное переобучение и потеря интерпретируемости. В абсолютных числах уровень предсказания умеренный: доверие - многокомпонентная переменная, и 15 доступных признаков объясняют около 19% её дисперсии, что выше нежели в линейных на 5%.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635045AF-7A16-D1FC-0F01-946C5765C0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559850"/>
              </p:ext>
            </p:extLst>
          </p:nvPr>
        </p:nvGraphicFramePr>
        <p:xfrm>
          <a:off x="2394582" y="2117453"/>
          <a:ext cx="6825620" cy="20976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38139">
                  <a:extLst>
                    <a:ext uri="{9D8B030D-6E8A-4147-A177-3AD203B41FA5}">
                      <a16:colId xmlns:a16="http://schemas.microsoft.com/office/drawing/2014/main" val="2117522403"/>
                    </a:ext>
                  </a:extLst>
                </a:gridCol>
                <a:gridCol w="1011203">
                  <a:extLst>
                    <a:ext uri="{9D8B030D-6E8A-4147-A177-3AD203B41FA5}">
                      <a16:colId xmlns:a16="http://schemas.microsoft.com/office/drawing/2014/main" val="1679634266"/>
                    </a:ext>
                  </a:extLst>
                </a:gridCol>
                <a:gridCol w="1011203">
                  <a:extLst>
                    <a:ext uri="{9D8B030D-6E8A-4147-A177-3AD203B41FA5}">
                      <a16:colId xmlns:a16="http://schemas.microsoft.com/office/drawing/2014/main" val="1023963665"/>
                    </a:ext>
                  </a:extLst>
                </a:gridCol>
                <a:gridCol w="842669">
                  <a:extLst>
                    <a:ext uri="{9D8B030D-6E8A-4147-A177-3AD203B41FA5}">
                      <a16:colId xmlns:a16="http://schemas.microsoft.com/office/drawing/2014/main" val="3957396047"/>
                    </a:ext>
                  </a:extLst>
                </a:gridCol>
                <a:gridCol w="1011203">
                  <a:extLst>
                    <a:ext uri="{9D8B030D-6E8A-4147-A177-3AD203B41FA5}">
                      <a16:colId xmlns:a16="http://schemas.microsoft.com/office/drawing/2014/main" val="3097819225"/>
                    </a:ext>
                  </a:extLst>
                </a:gridCol>
                <a:gridCol w="1011203">
                  <a:extLst>
                    <a:ext uri="{9D8B030D-6E8A-4147-A177-3AD203B41FA5}">
                      <a16:colId xmlns:a16="http://schemas.microsoft.com/office/drawing/2014/main" val="76554336"/>
                    </a:ext>
                  </a:extLst>
                </a:gridCol>
              </a:tblGrid>
              <a:tr h="54088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Модель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 err="1">
                          <a:effectLst/>
                        </a:rPr>
                        <a:t>Train</a:t>
                      </a:r>
                      <a:r>
                        <a:rPr lang="ru-RU" sz="1200" dirty="0">
                          <a:effectLst/>
                        </a:rPr>
                        <a:t> R²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Test R²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Gap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Test MAE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Test RMSE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33128"/>
                  </a:ext>
                </a:extLst>
              </a:tr>
              <a:tr h="259459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DummyRegressor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0,000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−0,001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0,001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2,07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2,49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0980649"/>
                  </a:ext>
                </a:extLst>
              </a:tr>
              <a:tr h="259459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OLS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0,146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0,140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0,006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1,84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2,31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7583311"/>
                  </a:ext>
                </a:extLst>
              </a:tr>
              <a:tr h="259459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Ridge (α=1,0)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0,146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0,140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0,006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1,84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2,31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82078037"/>
                  </a:ext>
                </a:extLst>
              </a:tr>
              <a:tr h="259459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Lasso (α=0,01)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0,145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0,140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0,005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1,84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2,31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20111553"/>
                  </a:ext>
                </a:extLst>
              </a:tr>
              <a:tr h="259459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200" dirty="0" err="1">
                          <a:effectLst/>
                        </a:rPr>
                        <a:t>Random</a:t>
                      </a:r>
                      <a:r>
                        <a:rPr lang="ru-RU" sz="1200" dirty="0">
                          <a:effectLst/>
                        </a:rPr>
                        <a:t> </a:t>
                      </a:r>
                      <a:r>
                        <a:rPr lang="ru-RU" sz="1200" dirty="0" err="1">
                          <a:effectLst/>
                        </a:rPr>
                        <a:t>Forest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0,389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0,186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0,203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1,77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2,25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8880679"/>
                  </a:ext>
                </a:extLst>
              </a:tr>
              <a:tr h="259459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200" dirty="0" err="1">
                          <a:effectLst/>
                        </a:rPr>
                        <a:t>XGBoost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0,326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0,191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0,135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1,76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2,24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4986538"/>
                  </a:ext>
                </a:extLst>
              </a:tr>
            </a:tbl>
          </a:graphicData>
        </a:graphic>
      </p:graphicFrame>
      <p:sp>
        <p:nvSpPr>
          <p:cNvPr id="9" name="object 7">
            <a:extLst>
              <a:ext uri="{FF2B5EF4-FFF2-40B4-BE49-F238E27FC236}">
                <a16:creationId xmlns:a16="http://schemas.microsoft.com/office/drawing/2014/main" id="{F893E1DE-333C-978E-6F12-F812D4CB0459}"/>
              </a:ext>
            </a:extLst>
          </p:cNvPr>
          <p:cNvSpPr txBox="1"/>
          <p:nvPr/>
        </p:nvSpPr>
        <p:spPr>
          <a:xfrm>
            <a:off x="1131214" y="520699"/>
            <a:ext cx="141986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000" dirty="0">
                <a:solidFill>
                  <a:srgbClr val="0D2C69"/>
                </a:solidFill>
                <a:latin typeface="Calibri"/>
                <a:cs typeface="Calibri"/>
              </a:rPr>
              <a:t>Анализ больших данных</a:t>
            </a:r>
            <a:endParaRPr lang="ru-RU" sz="1000" dirty="0">
              <a:latin typeface="Calibri"/>
              <a:cs typeface="Calibri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9B737F95-5161-F0E3-B7BA-8BB4AB2CA6F9}"/>
              </a:ext>
            </a:extLst>
          </p:cNvPr>
          <p:cNvSpPr txBox="1"/>
          <p:nvPr/>
        </p:nvSpPr>
        <p:spPr>
          <a:xfrm>
            <a:off x="3436023" y="422626"/>
            <a:ext cx="211612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1000" spc="-10" dirty="0">
                <a:solidFill>
                  <a:srgbClr val="0D2C69"/>
                </a:solidFill>
                <a:latin typeface="Calibri"/>
                <a:cs typeface="Calibri"/>
              </a:rPr>
              <a:t>Ценности и личностные приоритеты граждан Европы: кросс-национальный анализ структуры базовых ценностей на данных </a:t>
            </a:r>
            <a:r>
              <a:rPr lang="en" sz="1000" spc="-10" dirty="0">
                <a:solidFill>
                  <a:srgbClr val="0D2C69"/>
                </a:solidFill>
                <a:latin typeface="Calibri"/>
                <a:cs typeface="Calibri"/>
              </a:rPr>
              <a:t>ESS</a:t>
            </a:r>
          </a:p>
        </p:txBody>
      </p:sp>
    </p:spTree>
    <p:extLst>
      <p:ext uri="{BB962C8B-B14F-4D97-AF65-F5344CB8AC3E}">
        <p14:creationId xmlns:p14="http://schemas.microsoft.com/office/powerpoint/2010/main" val="1158707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6247891" y="404622"/>
            <a:ext cx="161671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000" dirty="0">
                <a:solidFill>
                  <a:srgbClr val="0D2C69"/>
                </a:solidFill>
                <a:latin typeface="Calibri"/>
                <a:cs typeface="Calibri"/>
              </a:rPr>
              <a:t>Перестановочная важность признаков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73125" y="1378458"/>
            <a:ext cx="52180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dirty="0">
                <a:solidFill>
                  <a:srgbClr val="0D2C69"/>
                </a:solidFill>
                <a:latin typeface="Calibri"/>
                <a:cs typeface="Calibri"/>
              </a:rPr>
              <a:t>Перестановочная важность признаков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6F7C04-C34B-002C-D79D-DC7E146E8F0C}"/>
              </a:ext>
            </a:extLst>
          </p:cNvPr>
          <p:cNvSpPr txBox="1"/>
          <p:nvPr/>
        </p:nvSpPr>
        <p:spPr>
          <a:xfrm>
            <a:off x="8229600" y="1905000"/>
            <a:ext cx="3336799" cy="2310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b="1" dirty="0">
                <a:solidFill>
                  <a:srgbClr val="0E2C68"/>
                </a:solidFill>
                <a:latin typeface="Calibri"/>
                <a:cs typeface="Calibri"/>
              </a:rPr>
              <a:t>Основной</a:t>
            </a:r>
            <a:r>
              <a:rPr lang="ru-RU" b="1" spc="-75" dirty="0">
                <a:solidFill>
                  <a:srgbClr val="0E2C68"/>
                </a:solidFill>
                <a:latin typeface="Calibri"/>
                <a:cs typeface="Calibri"/>
              </a:rPr>
              <a:t> </a:t>
            </a:r>
            <a:r>
              <a:rPr lang="ru-RU" b="1" spc="-10" dirty="0">
                <a:solidFill>
                  <a:srgbClr val="0E2C68"/>
                </a:solidFill>
                <a:latin typeface="Calibri"/>
                <a:cs typeface="Calibri"/>
              </a:rPr>
              <a:t>вывод:</a:t>
            </a:r>
            <a:endParaRPr lang="ru-RU" dirty="0">
              <a:latin typeface="Calibri"/>
              <a:cs typeface="Calibri"/>
            </a:endParaRPr>
          </a:p>
          <a:p>
            <a:pPr marL="12700">
              <a:spcBef>
                <a:spcPts val="1685"/>
              </a:spcBef>
              <a:tabLst>
                <a:tab pos="299085" algn="l"/>
              </a:tabLst>
            </a:pP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В обеих моделях </a:t>
            </a:r>
            <a:r>
              <a:rPr lang="en" sz="1600" dirty="0">
                <a:solidFill>
                  <a:srgbClr val="0E2C68"/>
                </a:solidFill>
                <a:latin typeface="Calibri"/>
                <a:cs typeface="Calibri"/>
              </a:rPr>
              <a:t>CPI </a:t>
            </a: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занимает первое место со значительным отрывом: перестановка значений </a:t>
            </a:r>
            <a:r>
              <a:rPr lang="en" sz="1600" dirty="0">
                <a:solidFill>
                  <a:srgbClr val="0E2C68"/>
                </a:solidFill>
                <a:latin typeface="Calibri"/>
                <a:cs typeface="Calibri"/>
              </a:rPr>
              <a:t>CPI </a:t>
            </a: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снижает </a:t>
            </a:r>
            <a:r>
              <a:rPr lang="en" sz="1600" dirty="0">
                <a:solidFill>
                  <a:srgbClr val="0E2C68"/>
                </a:solidFill>
                <a:latin typeface="Calibri"/>
                <a:cs typeface="Calibri"/>
              </a:rPr>
              <a:t>test R² </a:t>
            </a: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на 13,2-15,8 процентных пункта, что составляет около двух третей от общего </a:t>
            </a:r>
            <a:r>
              <a:rPr lang="en" sz="1600" dirty="0">
                <a:solidFill>
                  <a:srgbClr val="0E2C68"/>
                </a:solidFill>
                <a:latin typeface="Calibri"/>
                <a:cs typeface="Calibri"/>
              </a:rPr>
              <a:t>R² </a:t>
            </a: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моделей. 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CF89B26-E0EB-8812-734A-B45945B324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5" t="6350" r="1634"/>
          <a:stretch/>
        </p:blipFill>
        <p:spPr>
          <a:xfrm>
            <a:off x="304800" y="1905000"/>
            <a:ext cx="7659719" cy="4334629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398632" y="503046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0F2C69"/>
                </a:solidFill>
                <a:latin typeface="Calibri"/>
                <a:cs typeface="Calibri"/>
              </a:rPr>
              <a:t>7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643868" y="464312"/>
            <a:ext cx="0" cy="586740"/>
          </a:xfrm>
          <a:custGeom>
            <a:avLst/>
            <a:gdLst/>
            <a:ahLst/>
            <a:cxnLst/>
            <a:rect l="l" t="t" r="r" b="b"/>
            <a:pathLst>
              <a:path h="586740">
                <a:moveTo>
                  <a:pt x="0" y="0"/>
                </a:moveTo>
                <a:lnTo>
                  <a:pt x="0" y="586359"/>
                </a:lnTo>
              </a:path>
            </a:pathLst>
          </a:custGeom>
          <a:ln w="12700">
            <a:solidFill>
              <a:srgbClr val="0F2C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FC042AA1-61D7-05F2-770E-C29F3AC9B66D}"/>
              </a:ext>
            </a:extLst>
          </p:cNvPr>
          <p:cNvSpPr txBox="1"/>
          <p:nvPr/>
        </p:nvSpPr>
        <p:spPr>
          <a:xfrm>
            <a:off x="1131214" y="520699"/>
            <a:ext cx="141986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000" dirty="0">
                <a:solidFill>
                  <a:srgbClr val="0D2C69"/>
                </a:solidFill>
                <a:latin typeface="Calibri"/>
                <a:cs typeface="Calibri"/>
              </a:rPr>
              <a:t>Анализ больших данных</a:t>
            </a:r>
            <a:endParaRPr lang="ru-RU" sz="1000" dirty="0">
              <a:latin typeface="Calibri"/>
              <a:cs typeface="Calibri"/>
            </a:endParaRPr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E4F33B2E-B184-A63E-F42C-DC55158ABFF9}"/>
              </a:ext>
            </a:extLst>
          </p:cNvPr>
          <p:cNvSpPr txBox="1"/>
          <p:nvPr/>
        </p:nvSpPr>
        <p:spPr>
          <a:xfrm>
            <a:off x="3436023" y="422626"/>
            <a:ext cx="211612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1000" spc="-10" dirty="0">
                <a:solidFill>
                  <a:srgbClr val="0D2C69"/>
                </a:solidFill>
                <a:latin typeface="Calibri"/>
                <a:cs typeface="Calibri"/>
              </a:rPr>
              <a:t>Ценности и личностные приоритеты граждан Европы: кросс-национальный анализ структуры базовых ценностей на данных </a:t>
            </a:r>
            <a:r>
              <a:rPr lang="en" sz="1000" spc="-10" dirty="0">
                <a:solidFill>
                  <a:srgbClr val="0D2C69"/>
                </a:solidFill>
                <a:latin typeface="Calibri"/>
                <a:cs typeface="Calibri"/>
              </a:rPr>
              <a:t>ESS</a:t>
            </a:r>
          </a:p>
        </p:txBody>
      </p:sp>
    </p:spTree>
    <p:extLst>
      <p:ext uri="{BB962C8B-B14F-4D97-AF65-F5344CB8AC3E}">
        <p14:creationId xmlns:p14="http://schemas.microsoft.com/office/powerpoint/2010/main" val="1390340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98632" y="503046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0F2C69"/>
                </a:solidFill>
                <a:latin typeface="Calibri"/>
                <a:cs typeface="Calibri"/>
              </a:rPr>
              <a:t>7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643868" y="464312"/>
            <a:ext cx="0" cy="586740"/>
          </a:xfrm>
          <a:custGeom>
            <a:avLst/>
            <a:gdLst/>
            <a:ahLst/>
            <a:cxnLst/>
            <a:rect l="l" t="t" r="r" b="b"/>
            <a:pathLst>
              <a:path h="586740">
                <a:moveTo>
                  <a:pt x="0" y="0"/>
                </a:moveTo>
                <a:lnTo>
                  <a:pt x="0" y="586359"/>
                </a:lnTo>
              </a:path>
            </a:pathLst>
          </a:custGeom>
          <a:ln w="12700">
            <a:solidFill>
              <a:srgbClr val="0F2C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47891" y="404622"/>
            <a:ext cx="161671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1000" dirty="0" err="1">
                <a:solidFill>
                  <a:srgbClr val="0D2C69"/>
                </a:solidFill>
                <a:latin typeface="Calibri"/>
                <a:cs typeface="Calibri"/>
              </a:rPr>
              <a:t>Многоуровненая</a:t>
            </a:r>
            <a:r>
              <a:rPr lang="ru-RU" sz="1000" dirty="0">
                <a:solidFill>
                  <a:srgbClr val="0D2C69"/>
                </a:solidFill>
                <a:latin typeface="Calibri"/>
                <a:cs typeface="Calibri"/>
              </a:rPr>
              <a:t> регрессия</a:t>
            </a:r>
            <a:endParaRPr lang="ru-RU" sz="1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3125" y="1378458"/>
            <a:ext cx="52180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400" dirty="0" err="1">
                <a:solidFill>
                  <a:srgbClr val="0D2C69"/>
                </a:solidFill>
                <a:latin typeface="Calibri"/>
                <a:cs typeface="Calibri"/>
              </a:rPr>
              <a:t>Многоуровненая</a:t>
            </a:r>
            <a:r>
              <a:rPr lang="ru-RU" sz="2400" dirty="0">
                <a:solidFill>
                  <a:srgbClr val="0D2C69"/>
                </a:solidFill>
                <a:latin typeface="Calibri"/>
                <a:cs typeface="Calibri"/>
              </a:rPr>
              <a:t> регрессия</a:t>
            </a:r>
            <a:endParaRPr lang="ru-RU" sz="2400" dirty="0">
              <a:latin typeface="Calibri"/>
              <a:cs typeface="Calibri"/>
            </a:endParaRP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47C2330-29D5-13B9-D89A-7F08C30AB9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566591"/>
              </p:ext>
            </p:extLst>
          </p:nvPr>
        </p:nvGraphicFramePr>
        <p:xfrm>
          <a:off x="573124" y="2287156"/>
          <a:ext cx="4684674" cy="36608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06174">
                  <a:extLst>
                    <a:ext uri="{9D8B030D-6E8A-4147-A177-3AD203B41FA5}">
                      <a16:colId xmlns:a16="http://schemas.microsoft.com/office/drawing/2014/main" val="2223252202"/>
                    </a:ext>
                  </a:extLst>
                </a:gridCol>
                <a:gridCol w="803087">
                  <a:extLst>
                    <a:ext uri="{9D8B030D-6E8A-4147-A177-3AD203B41FA5}">
                      <a16:colId xmlns:a16="http://schemas.microsoft.com/office/drawing/2014/main" val="700640981"/>
                    </a:ext>
                  </a:extLst>
                </a:gridCol>
                <a:gridCol w="803087">
                  <a:extLst>
                    <a:ext uri="{9D8B030D-6E8A-4147-A177-3AD203B41FA5}">
                      <a16:colId xmlns:a16="http://schemas.microsoft.com/office/drawing/2014/main" val="3302002869"/>
                    </a:ext>
                  </a:extLst>
                </a:gridCol>
                <a:gridCol w="736163">
                  <a:extLst>
                    <a:ext uri="{9D8B030D-6E8A-4147-A177-3AD203B41FA5}">
                      <a16:colId xmlns:a16="http://schemas.microsoft.com/office/drawing/2014/main" val="4090105613"/>
                    </a:ext>
                  </a:extLst>
                </a:gridCol>
                <a:gridCol w="736163">
                  <a:extLst>
                    <a:ext uri="{9D8B030D-6E8A-4147-A177-3AD203B41FA5}">
                      <a16:colId xmlns:a16="http://schemas.microsoft.com/office/drawing/2014/main" val="1093504089"/>
                    </a:ext>
                  </a:extLst>
                </a:gridCol>
              </a:tblGrid>
              <a:tr h="764861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Предиктор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β (</a:t>
                      </a:r>
                      <a:r>
                        <a:rPr lang="ru-RU" sz="1200" dirty="0" err="1">
                          <a:effectLst/>
                        </a:rPr>
                        <a:t>станд</a:t>
                      </a:r>
                      <a:r>
                        <a:rPr lang="ru-RU" sz="1200" dirty="0">
                          <a:effectLst/>
                        </a:rPr>
                        <a:t>.)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Ст. ошибка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 err="1">
                          <a:effectLst/>
                        </a:rPr>
                        <a:t>z</a:t>
                      </a:r>
                      <a:r>
                        <a:rPr lang="ru-RU" sz="1200" dirty="0">
                          <a:effectLst/>
                        </a:rPr>
                        <a:t>-стат.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 err="1">
                          <a:effectLst/>
                        </a:rPr>
                        <a:t>p</a:t>
                      </a:r>
                      <a:r>
                        <a:rPr lang="ru-RU" sz="1200" dirty="0">
                          <a:effectLst/>
                        </a:rPr>
                        <a:t>-значение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664444"/>
                  </a:ext>
                </a:extLst>
              </a:tr>
              <a:tr h="241333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Openness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0,02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0,02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1,00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0,316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680689"/>
                  </a:ext>
                </a:extLst>
              </a:tr>
              <a:tr h="241333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Conservation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−0,26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0,02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−13,00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&lt; 0,001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91417215"/>
                  </a:ext>
                </a:extLst>
              </a:tr>
              <a:tr h="241333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Self-Transcendence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0,23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0,02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11,50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&lt; 0,001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4442935"/>
                  </a:ext>
                </a:extLst>
              </a:tr>
              <a:tr h="241333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Self-Enhancement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−0,03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0,02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−1,50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0,133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68953164"/>
                  </a:ext>
                </a:extLst>
              </a:tr>
              <a:tr h="241333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netusoft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0,16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0,02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8,00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&lt; 0,001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2545047"/>
                  </a:ext>
                </a:extLst>
              </a:tr>
              <a:tr h="241333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log_netustm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−0,04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0,02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−2,00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0,046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1892119"/>
                  </a:ext>
                </a:extLst>
              </a:tr>
              <a:tr h="241333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log_nwspol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0,09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0,02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4,50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&lt; 0,001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8866101"/>
                  </a:ext>
                </a:extLst>
              </a:tr>
              <a:tr h="241333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agea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0,12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0,02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6,00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&lt; 0,001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4763632"/>
                  </a:ext>
                </a:extLst>
              </a:tr>
              <a:tr h="241333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eduyrs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0,22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0,02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11,00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&lt; 0,001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73331122"/>
                  </a:ext>
                </a:extLst>
              </a:tr>
              <a:tr h="241333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hinctnta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0,17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0,02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8,50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&lt; 0,001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6508111"/>
                  </a:ext>
                </a:extLst>
              </a:tr>
              <a:tr h="241333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female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−0,02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0,02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−1,00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0,317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4431587"/>
                  </a:ext>
                </a:extLst>
              </a:tr>
              <a:tr h="241333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200" dirty="0" err="1">
                          <a:effectLst/>
                        </a:rPr>
                        <a:t>domicil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0,01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0,02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0,50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0,617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8637541"/>
                  </a:ext>
                </a:extLst>
              </a:tr>
            </a:tbl>
          </a:graphicData>
        </a:graphic>
      </p:graphicFrame>
      <p:sp>
        <p:nvSpPr>
          <p:cNvPr id="10" name="object 12">
            <a:extLst>
              <a:ext uri="{FF2B5EF4-FFF2-40B4-BE49-F238E27FC236}">
                <a16:creationId xmlns:a16="http://schemas.microsoft.com/office/drawing/2014/main" id="{6A8BBA0E-4E21-4342-F9DA-ECFBFAEB0240}"/>
              </a:ext>
            </a:extLst>
          </p:cNvPr>
          <p:cNvSpPr txBox="1"/>
          <p:nvPr/>
        </p:nvSpPr>
        <p:spPr>
          <a:xfrm>
            <a:off x="1371163" y="1905000"/>
            <a:ext cx="284892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ru-RU" sz="2400" dirty="0">
                <a:solidFill>
                  <a:srgbClr val="0E2C68"/>
                </a:solidFill>
                <a:latin typeface="Calibri"/>
                <a:cs typeface="Calibri"/>
              </a:rPr>
              <a:t>М1</a:t>
            </a:r>
            <a:endParaRPr sz="2400" dirty="0">
              <a:latin typeface="Calibri"/>
              <a:cs typeface="Calibri"/>
            </a:endParaRP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24E5C8F6-78B6-8B88-3119-A3309A2DA2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650473"/>
              </p:ext>
            </p:extLst>
          </p:nvPr>
        </p:nvGraphicFramePr>
        <p:xfrm>
          <a:off x="5929647" y="2287156"/>
          <a:ext cx="5486399" cy="16206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1305">
                  <a:extLst>
                    <a:ext uri="{9D8B030D-6E8A-4147-A177-3AD203B41FA5}">
                      <a16:colId xmlns:a16="http://schemas.microsoft.com/office/drawing/2014/main" val="3129041622"/>
                    </a:ext>
                  </a:extLst>
                </a:gridCol>
                <a:gridCol w="938463">
                  <a:extLst>
                    <a:ext uri="{9D8B030D-6E8A-4147-A177-3AD203B41FA5}">
                      <a16:colId xmlns:a16="http://schemas.microsoft.com/office/drawing/2014/main" val="1987179801"/>
                    </a:ext>
                  </a:extLst>
                </a:gridCol>
                <a:gridCol w="938463">
                  <a:extLst>
                    <a:ext uri="{9D8B030D-6E8A-4147-A177-3AD203B41FA5}">
                      <a16:colId xmlns:a16="http://schemas.microsoft.com/office/drawing/2014/main" val="1274338962"/>
                    </a:ext>
                  </a:extLst>
                </a:gridCol>
                <a:gridCol w="794084">
                  <a:extLst>
                    <a:ext uri="{9D8B030D-6E8A-4147-A177-3AD203B41FA5}">
                      <a16:colId xmlns:a16="http://schemas.microsoft.com/office/drawing/2014/main" val="579827216"/>
                    </a:ext>
                  </a:extLst>
                </a:gridCol>
                <a:gridCol w="794084">
                  <a:extLst>
                    <a:ext uri="{9D8B030D-6E8A-4147-A177-3AD203B41FA5}">
                      <a16:colId xmlns:a16="http://schemas.microsoft.com/office/drawing/2014/main" val="790617771"/>
                    </a:ext>
                  </a:extLst>
                </a:gridCol>
              </a:tblGrid>
              <a:tr h="832545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Страновой предиктор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β (</a:t>
                      </a:r>
                      <a:r>
                        <a:rPr lang="ru-RU" sz="1200" dirty="0" err="1">
                          <a:effectLst/>
                        </a:rPr>
                        <a:t>станд</a:t>
                      </a:r>
                      <a:r>
                        <a:rPr lang="ru-RU" sz="1200" dirty="0">
                          <a:effectLst/>
                        </a:rPr>
                        <a:t>.)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Ст. ошибка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 err="1">
                          <a:effectLst/>
                        </a:rPr>
                        <a:t>z</a:t>
                      </a:r>
                      <a:r>
                        <a:rPr lang="ru-RU" sz="1200" dirty="0">
                          <a:effectLst/>
                        </a:rPr>
                        <a:t>-стат.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 err="1">
                          <a:effectLst/>
                        </a:rPr>
                        <a:t>p</a:t>
                      </a:r>
                      <a:r>
                        <a:rPr lang="ru-RU" sz="1200" dirty="0">
                          <a:effectLst/>
                        </a:rPr>
                        <a:t>-значение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118441"/>
                  </a:ext>
                </a:extLst>
              </a:tr>
              <a:tr h="262688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GDP </a:t>
                      </a:r>
                      <a:r>
                        <a:rPr lang="ru-RU" sz="1200" dirty="0" err="1">
                          <a:effectLst/>
                        </a:rPr>
                        <a:t>per</a:t>
                      </a:r>
                      <a:r>
                        <a:rPr lang="ru-RU" sz="1200" dirty="0">
                          <a:effectLst/>
                        </a:rPr>
                        <a:t> </a:t>
                      </a:r>
                      <a:r>
                        <a:rPr lang="ru-RU" sz="1200" dirty="0" err="1">
                          <a:effectLst/>
                        </a:rPr>
                        <a:t>capita</a:t>
                      </a:r>
                      <a:r>
                        <a:rPr lang="ru-RU" sz="1200" dirty="0">
                          <a:effectLst/>
                        </a:rPr>
                        <a:t> PPP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0,17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0,12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1,42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0,156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3382733"/>
                  </a:ext>
                </a:extLst>
              </a:tr>
              <a:tr h="262688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200" dirty="0" err="1">
                          <a:effectLst/>
                        </a:rPr>
                        <a:t>Gini</a:t>
                      </a:r>
                      <a:r>
                        <a:rPr lang="ru-RU" sz="1200" dirty="0">
                          <a:effectLst/>
                        </a:rPr>
                        <a:t> (неравенство)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−0,10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0,08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−1,25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0,211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4815623"/>
                  </a:ext>
                </a:extLst>
              </a:tr>
              <a:tr h="262688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CPI (корр. восприятия)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0,54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0,13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>
                          <a:effectLst/>
                        </a:rPr>
                        <a:t>4,15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200" dirty="0">
                          <a:effectLst/>
                        </a:rPr>
                        <a:t>&lt; 0,001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3670652"/>
                  </a:ext>
                </a:extLst>
              </a:tr>
            </a:tbl>
          </a:graphicData>
        </a:graphic>
      </p:graphicFrame>
      <p:sp>
        <p:nvSpPr>
          <p:cNvPr id="12" name="object 12">
            <a:extLst>
              <a:ext uri="{FF2B5EF4-FFF2-40B4-BE49-F238E27FC236}">
                <a16:creationId xmlns:a16="http://schemas.microsoft.com/office/drawing/2014/main" id="{B3478E4F-5DF9-269D-2E33-CCD32B5229B8}"/>
              </a:ext>
            </a:extLst>
          </p:cNvPr>
          <p:cNvSpPr txBox="1"/>
          <p:nvPr/>
        </p:nvSpPr>
        <p:spPr>
          <a:xfrm>
            <a:off x="7389338" y="1905000"/>
            <a:ext cx="284892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ru-RU" sz="2400" dirty="0">
                <a:solidFill>
                  <a:srgbClr val="0E2C68"/>
                </a:solidFill>
                <a:latin typeface="Calibri"/>
                <a:cs typeface="Calibri"/>
              </a:rPr>
              <a:t>М2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1DCDEBEF-FC9F-6BD1-AB69-C81EFA9E0D0C}"/>
              </a:ext>
            </a:extLst>
          </p:cNvPr>
          <p:cNvSpPr txBox="1"/>
          <p:nvPr/>
        </p:nvSpPr>
        <p:spPr>
          <a:xfrm>
            <a:off x="1131214" y="520699"/>
            <a:ext cx="141986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000" dirty="0">
                <a:solidFill>
                  <a:srgbClr val="0D2C69"/>
                </a:solidFill>
                <a:latin typeface="Calibri"/>
                <a:cs typeface="Calibri"/>
              </a:rPr>
              <a:t>Анализ больших данных</a:t>
            </a:r>
            <a:endParaRPr lang="ru-RU" sz="1000" dirty="0">
              <a:latin typeface="Calibri"/>
              <a:cs typeface="Calibri"/>
            </a:endParaRPr>
          </a:p>
        </p:txBody>
      </p:sp>
      <p:sp>
        <p:nvSpPr>
          <p:cNvPr id="15" name="object 5">
            <a:extLst>
              <a:ext uri="{FF2B5EF4-FFF2-40B4-BE49-F238E27FC236}">
                <a16:creationId xmlns:a16="http://schemas.microsoft.com/office/drawing/2014/main" id="{64095CBC-AEA6-C848-106E-4C931B54A626}"/>
              </a:ext>
            </a:extLst>
          </p:cNvPr>
          <p:cNvSpPr txBox="1"/>
          <p:nvPr/>
        </p:nvSpPr>
        <p:spPr>
          <a:xfrm>
            <a:off x="3436023" y="422626"/>
            <a:ext cx="211612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1000" spc="-10" dirty="0">
                <a:solidFill>
                  <a:srgbClr val="0D2C69"/>
                </a:solidFill>
                <a:latin typeface="Calibri"/>
                <a:cs typeface="Calibri"/>
              </a:rPr>
              <a:t>Ценности и личностные приоритеты граждан Европы: кросс-национальный анализ структуры базовых ценностей на данных </a:t>
            </a:r>
            <a:r>
              <a:rPr lang="en" sz="1000" spc="-10" dirty="0">
                <a:solidFill>
                  <a:srgbClr val="0D2C69"/>
                </a:solidFill>
                <a:latin typeface="Calibri"/>
                <a:cs typeface="Calibri"/>
              </a:rPr>
              <a:t>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856E08-916F-03C9-A5AC-B2D06F40B3F7}"/>
              </a:ext>
            </a:extLst>
          </p:cNvPr>
          <p:cNvSpPr txBox="1"/>
          <p:nvPr/>
        </p:nvSpPr>
        <p:spPr>
          <a:xfrm>
            <a:off x="5929647" y="4392464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b="1" dirty="0">
                <a:solidFill>
                  <a:srgbClr val="0E2C68"/>
                </a:solidFill>
                <a:latin typeface="Calibri"/>
                <a:cs typeface="Calibri"/>
              </a:rPr>
              <a:t>Основной вывод:</a:t>
            </a:r>
          </a:p>
          <a:p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Из четырёх ценностных измерений значимыми оказались два. Забота о других — даёт коэффициент 0,23. Сохранение — -0,26. Это в точности соответствует теории морального доверия </a:t>
            </a:r>
            <a:r>
              <a:rPr lang="ru-RU" sz="1600" dirty="0" err="1">
                <a:solidFill>
                  <a:srgbClr val="0E2C68"/>
                </a:solidFill>
                <a:latin typeface="Calibri"/>
                <a:cs typeface="Calibri"/>
              </a:rPr>
              <a:t>Усланера</a:t>
            </a: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.</a:t>
            </a:r>
          </a:p>
          <a:p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На страновом уровне самым сильным предиктором стал индекс восприятия коррупции с коэффициентом плюс 0,54 при значимости меньше тысячной. </a:t>
            </a:r>
          </a:p>
        </p:txBody>
      </p:sp>
    </p:spTree>
    <p:extLst>
      <p:ext uri="{BB962C8B-B14F-4D97-AF65-F5344CB8AC3E}">
        <p14:creationId xmlns:p14="http://schemas.microsoft.com/office/powerpoint/2010/main" val="5834228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98632" y="503046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0F2C69"/>
                </a:solidFill>
                <a:latin typeface="Calibri"/>
                <a:cs typeface="Calibri"/>
              </a:rPr>
              <a:t>7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643868" y="464312"/>
            <a:ext cx="0" cy="586740"/>
          </a:xfrm>
          <a:custGeom>
            <a:avLst/>
            <a:gdLst/>
            <a:ahLst/>
            <a:cxnLst/>
            <a:rect l="l" t="t" r="r" b="b"/>
            <a:pathLst>
              <a:path h="586740">
                <a:moveTo>
                  <a:pt x="0" y="0"/>
                </a:moveTo>
                <a:lnTo>
                  <a:pt x="0" y="586359"/>
                </a:lnTo>
              </a:path>
            </a:pathLst>
          </a:custGeom>
          <a:ln w="12700">
            <a:solidFill>
              <a:srgbClr val="0F2C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47891" y="404622"/>
            <a:ext cx="161671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000" dirty="0">
                <a:solidFill>
                  <a:srgbClr val="0D2C69"/>
                </a:solidFill>
                <a:latin typeface="Calibri"/>
                <a:cs typeface="Calibri"/>
              </a:rPr>
              <a:t>Диагностика </a:t>
            </a:r>
            <a:r>
              <a:rPr lang="ru-RU" sz="1000" dirty="0" err="1">
                <a:solidFill>
                  <a:srgbClr val="0D2C69"/>
                </a:solidFill>
                <a:latin typeface="Calibri"/>
                <a:cs typeface="Calibri"/>
              </a:rPr>
              <a:t>мультиколлинеарности</a:t>
            </a:r>
            <a:endParaRPr lang="ru-RU" sz="1000" dirty="0">
              <a:solidFill>
                <a:srgbClr val="0D2C69"/>
              </a:solidFill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3125" y="1378458"/>
            <a:ext cx="55228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dirty="0">
                <a:solidFill>
                  <a:srgbClr val="0D2C69"/>
                </a:solidFill>
                <a:latin typeface="Calibri"/>
                <a:cs typeface="Calibri"/>
              </a:rPr>
              <a:t>Диагностика </a:t>
            </a:r>
            <a:r>
              <a:rPr lang="ru-RU" sz="2400" dirty="0" err="1">
                <a:solidFill>
                  <a:srgbClr val="0D2C69"/>
                </a:solidFill>
                <a:latin typeface="Calibri"/>
                <a:cs typeface="Calibri"/>
              </a:rPr>
              <a:t>мультиколлинеарности</a:t>
            </a:r>
            <a:r>
              <a:rPr lang="ru-RU" sz="2400" dirty="0">
                <a:solidFill>
                  <a:srgbClr val="0D2C69"/>
                </a:solidFill>
                <a:latin typeface="Calibri"/>
                <a:cs typeface="Calibri"/>
              </a:rPr>
              <a:t> (М2)</a:t>
            </a: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FAF36A51-0ED7-8D2A-9D15-31537E5A30A9}"/>
              </a:ext>
            </a:extLst>
          </p:cNvPr>
          <p:cNvSpPr txBox="1"/>
          <p:nvPr/>
        </p:nvSpPr>
        <p:spPr>
          <a:xfrm>
            <a:off x="1131214" y="520699"/>
            <a:ext cx="141986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000" dirty="0">
                <a:solidFill>
                  <a:srgbClr val="0D2C69"/>
                </a:solidFill>
                <a:latin typeface="Calibri"/>
                <a:cs typeface="Calibri"/>
              </a:rPr>
              <a:t>Анализ больших данных</a:t>
            </a:r>
            <a:endParaRPr lang="ru-RU" sz="1000" dirty="0">
              <a:latin typeface="Calibri"/>
              <a:cs typeface="Calibri"/>
            </a:endParaRPr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999CA549-2A05-EFD7-ECEA-0FEE70F8D6A3}"/>
              </a:ext>
            </a:extLst>
          </p:cNvPr>
          <p:cNvSpPr txBox="1"/>
          <p:nvPr/>
        </p:nvSpPr>
        <p:spPr>
          <a:xfrm>
            <a:off x="3436023" y="422626"/>
            <a:ext cx="211612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1000" spc="-10" dirty="0">
                <a:solidFill>
                  <a:srgbClr val="0D2C69"/>
                </a:solidFill>
                <a:latin typeface="Calibri"/>
                <a:cs typeface="Calibri"/>
              </a:rPr>
              <a:t>Ценности и личностные приоритеты граждан Европы: кросс-национальный анализ структуры базовых ценностей на данных </a:t>
            </a:r>
            <a:r>
              <a:rPr lang="en" sz="1000" spc="-10" dirty="0">
                <a:solidFill>
                  <a:srgbClr val="0D2C69"/>
                </a:solidFill>
                <a:latin typeface="Calibri"/>
                <a:cs typeface="Calibri"/>
              </a:rPr>
              <a:t>ESS</a:t>
            </a: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26086911-7F6E-2671-82F6-7D58592F04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6387065"/>
              </p:ext>
            </p:extLst>
          </p:nvPr>
        </p:nvGraphicFramePr>
        <p:xfrm>
          <a:off x="573125" y="1760614"/>
          <a:ext cx="6085964" cy="43321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E5A333A-90B8-C78A-71F7-B8D511487C87}"/>
              </a:ext>
            </a:extLst>
          </p:cNvPr>
          <p:cNvSpPr txBox="1"/>
          <p:nvPr/>
        </p:nvSpPr>
        <p:spPr>
          <a:xfrm>
            <a:off x="7391400" y="2057400"/>
            <a:ext cx="3701418" cy="3295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b="1" dirty="0">
                <a:solidFill>
                  <a:srgbClr val="0E2C68"/>
                </a:solidFill>
                <a:latin typeface="Calibri"/>
                <a:cs typeface="Calibri"/>
              </a:rPr>
              <a:t>Основной</a:t>
            </a:r>
            <a:r>
              <a:rPr lang="ru-RU" b="1" spc="-75" dirty="0">
                <a:solidFill>
                  <a:srgbClr val="0E2C68"/>
                </a:solidFill>
                <a:latin typeface="Calibri"/>
                <a:cs typeface="Calibri"/>
              </a:rPr>
              <a:t> </a:t>
            </a:r>
            <a:r>
              <a:rPr lang="ru-RU" b="1" spc="-10" dirty="0">
                <a:solidFill>
                  <a:srgbClr val="0E2C68"/>
                </a:solidFill>
                <a:latin typeface="Calibri"/>
                <a:cs typeface="Calibri"/>
              </a:rPr>
              <a:t>вывод:</a:t>
            </a:r>
            <a:endParaRPr lang="ru-RU" dirty="0">
              <a:latin typeface="Calibri"/>
              <a:cs typeface="Calibri"/>
            </a:endParaRPr>
          </a:p>
          <a:p>
            <a:pPr marL="12700">
              <a:spcBef>
                <a:spcPts val="1685"/>
              </a:spcBef>
              <a:tabLst>
                <a:tab pos="299085" algn="l"/>
              </a:tabLst>
            </a:pP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Серьёзной </a:t>
            </a:r>
            <a:r>
              <a:rPr lang="ru-RU" sz="1600" dirty="0" err="1">
                <a:solidFill>
                  <a:srgbClr val="0E2C68"/>
                </a:solidFill>
                <a:latin typeface="Calibri"/>
                <a:cs typeface="Calibri"/>
              </a:rPr>
              <a:t>мультиколлинеарности</a:t>
            </a: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 в модели нет. На индивидуальном уровне </a:t>
            </a:r>
            <a:r>
              <a:rPr lang="en" sz="1600" dirty="0">
                <a:solidFill>
                  <a:srgbClr val="0E2C68"/>
                </a:solidFill>
                <a:latin typeface="Calibri"/>
                <a:cs typeface="Calibri"/>
              </a:rPr>
              <a:t>VIF </a:t>
            </a: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у ценностных индексов находится около пограничного значения 5, поэтому их коэффициенты нужно интерпретировать осторожно, но исключать переменные не требуется. На страновом уровне </a:t>
            </a:r>
            <a:r>
              <a:rPr lang="en" sz="1600" dirty="0">
                <a:solidFill>
                  <a:srgbClr val="0E2C68"/>
                </a:solidFill>
                <a:latin typeface="Calibri"/>
                <a:cs typeface="Calibri"/>
              </a:rPr>
              <a:t>CPI </a:t>
            </a: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и </a:t>
            </a:r>
            <a:r>
              <a:rPr lang="en" sz="1600" dirty="0">
                <a:solidFill>
                  <a:srgbClr val="0E2C68"/>
                </a:solidFill>
                <a:latin typeface="Calibri"/>
                <a:cs typeface="Calibri"/>
              </a:rPr>
              <a:t>GDP </a:t>
            </a: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частично связаны между собой, однако </a:t>
            </a:r>
            <a:r>
              <a:rPr lang="en" sz="1600" dirty="0">
                <a:solidFill>
                  <a:srgbClr val="0E2C68"/>
                </a:solidFill>
                <a:latin typeface="Calibri"/>
                <a:cs typeface="Calibri"/>
              </a:rPr>
              <a:t>VIF </a:t>
            </a: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остаётся ниже критических значений.</a:t>
            </a:r>
          </a:p>
        </p:txBody>
      </p:sp>
    </p:spTree>
    <p:extLst>
      <p:ext uri="{BB962C8B-B14F-4D97-AF65-F5344CB8AC3E}">
        <p14:creationId xmlns:p14="http://schemas.microsoft.com/office/powerpoint/2010/main" val="3978217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98632" y="503046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0F2C69"/>
                </a:solidFill>
                <a:latin typeface="Calibri"/>
                <a:cs typeface="Calibri"/>
              </a:rPr>
              <a:t>7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643868" y="464312"/>
            <a:ext cx="0" cy="586740"/>
          </a:xfrm>
          <a:custGeom>
            <a:avLst/>
            <a:gdLst/>
            <a:ahLst/>
            <a:cxnLst/>
            <a:rect l="l" t="t" r="r" b="b"/>
            <a:pathLst>
              <a:path h="586740">
                <a:moveTo>
                  <a:pt x="0" y="0"/>
                </a:moveTo>
                <a:lnTo>
                  <a:pt x="0" y="586359"/>
                </a:lnTo>
              </a:path>
            </a:pathLst>
          </a:custGeom>
          <a:ln w="12700">
            <a:solidFill>
              <a:srgbClr val="0F2C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47891" y="404622"/>
            <a:ext cx="161671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1000" dirty="0">
                <a:solidFill>
                  <a:srgbClr val="0D2C69"/>
                </a:solidFill>
                <a:latin typeface="Calibri"/>
                <a:cs typeface="Calibri"/>
              </a:rPr>
              <a:t>Сравнение двух подходов</a:t>
            </a:r>
            <a:endParaRPr lang="ru-RU" sz="1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3400" y="1136578"/>
            <a:ext cx="521807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ru-RU" sz="2400" dirty="0">
                <a:solidFill>
                  <a:srgbClr val="0D2C69"/>
                </a:solidFill>
                <a:latin typeface="Calibri"/>
                <a:cs typeface="Calibri"/>
              </a:rPr>
              <a:t>Сравнение двух подходов методом ранговой корреляции </a:t>
            </a:r>
            <a:r>
              <a:rPr lang="ru-RU" sz="2400" dirty="0" err="1">
                <a:solidFill>
                  <a:srgbClr val="0D2C69"/>
                </a:solidFill>
                <a:latin typeface="Calibri"/>
                <a:cs typeface="Calibri"/>
              </a:rPr>
              <a:t>Спирмена</a:t>
            </a:r>
            <a:r>
              <a:rPr lang="ru-RU" sz="2400" dirty="0">
                <a:solidFill>
                  <a:srgbClr val="0D2C69"/>
                </a:solidFill>
                <a:latin typeface="Calibri"/>
                <a:cs typeface="Calibri"/>
              </a:rPr>
              <a:t> </a:t>
            </a:r>
            <a:endParaRPr lang="ru-RU" sz="2400" dirty="0">
              <a:latin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6F7C04-C34B-002C-D79D-DC7E146E8F0C}"/>
              </a:ext>
            </a:extLst>
          </p:cNvPr>
          <p:cNvSpPr txBox="1"/>
          <p:nvPr/>
        </p:nvSpPr>
        <p:spPr>
          <a:xfrm>
            <a:off x="7056246" y="1904999"/>
            <a:ext cx="4391850" cy="2064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b="1" dirty="0">
                <a:solidFill>
                  <a:srgbClr val="0E2C68"/>
                </a:solidFill>
                <a:latin typeface="Calibri"/>
                <a:cs typeface="Calibri"/>
              </a:rPr>
              <a:t>Основной</a:t>
            </a:r>
            <a:r>
              <a:rPr lang="ru-RU" b="1" spc="-75" dirty="0">
                <a:solidFill>
                  <a:srgbClr val="0E2C68"/>
                </a:solidFill>
                <a:latin typeface="Calibri"/>
                <a:cs typeface="Calibri"/>
              </a:rPr>
              <a:t> </a:t>
            </a:r>
            <a:r>
              <a:rPr lang="ru-RU" b="1" spc="-10" dirty="0">
                <a:solidFill>
                  <a:srgbClr val="0E2C68"/>
                </a:solidFill>
                <a:latin typeface="Calibri"/>
                <a:cs typeface="Calibri"/>
              </a:rPr>
              <a:t>вывод:</a:t>
            </a:r>
            <a:endParaRPr lang="ru-RU" dirty="0">
              <a:latin typeface="Calibri"/>
              <a:cs typeface="Calibri"/>
            </a:endParaRPr>
          </a:p>
          <a:p>
            <a:pPr marL="12700">
              <a:spcBef>
                <a:spcPts val="1685"/>
              </a:spcBef>
              <a:tabLst>
                <a:tab pos="299085" algn="l"/>
              </a:tabLst>
            </a:pP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Ведущие предикторы — коррупция, образование, доход, частота интернета и возраст — совпадают в обоих подходах. Содержательные выводы работы устойчивы к выбору методологии и не являются артефактом допущений одной модели. 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F03B406D-26C8-A765-3246-17B076F8B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087098"/>
              </p:ext>
            </p:extLst>
          </p:nvPr>
        </p:nvGraphicFramePr>
        <p:xfrm>
          <a:off x="437218" y="2031292"/>
          <a:ext cx="5997609" cy="44323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56382">
                  <a:extLst>
                    <a:ext uri="{9D8B030D-6E8A-4147-A177-3AD203B41FA5}">
                      <a16:colId xmlns:a16="http://schemas.microsoft.com/office/drawing/2014/main" val="2316310554"/>
                    </a:ext>
                  </a:extLst>
                </a:gridCol>
                <a:gridCol w="996142">
                  <a:extLst>
                    <a:ext uri="{9D8B030D-6E8A-4147-A177-3AD203B41FA5}">
                      <a16:colId xmlns:a16="http://schemas.microsoft.com/office/drawing/2014/main" val="2677601630"/>
                    </a:ext>
                  </a:extLst>
                </a:gridCol>
                <a:gridCol w="996142">
                  <a:extLst>
                    <a:ext uri="{9D8B030D-6E8A-4147-A177-3AD203B41FA5}">
                      <a16:colId xmlns:a16="http://schemas.microsoft.com/office/drawing/2014/main" val="1069252669"/>
                    </a:ext>
                  </a:extLst>
                </a:gridCol>
                <a:gridCol w="1348943">
                  <a:extLst>
                    <a:ext uri="{9D8B030D-6E8A-4147-A177-3AD203B41FA5}">
                      <a16:colId xmlns:a16="http://schemas.microsoft.com/office/drawing/2014/main" val="1577916058"/>
                    </a:ext>
                  </a:extLst>
                </a:gridCol>
              </a:tblGrid>
              <a:tr h="277019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Признак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Ранг M2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Ранг RF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Ранг XGB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500651"/>
                  </a:ext>
                </a:extLst>
              </a:tr>
              <a:tr h="277019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CPI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134030"/>
                  </a:ext>
                </a:extLst>
              </a:tr>
              <a:tr h="277019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Conservation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8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/>
                </a:tc>
                <a:extLst>
                  <a:ext uri="{0D108BD9-81ED-4DB2-BD59-A6C34878D82A}">
                    <a16:rowId xmlns:a16="http://schemas.microsoft.com/office/drawing/2014/main" val="1230956406"/>
                  </a:ext>
                </a:extLst>
              </a:tr>
              <a:tr h="277019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Self-Transcendence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9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/>
                </a:tc>
                <a:extLst>
                  <a:ext uri="{0D108BD9-81ED-4DB2-BD59-A6C34878D82A}">
                    <a16:rowId xmlns:a16="http://schemas.microsoft.com/office/drawing/2014/main" val="3348528695"/>
                  </a:ext>
                </a:extLst>
              </a:tr>
              <a:tr h="277019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eduyrs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3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3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701864"/>
                  </a:ext>
                </a:extLst>
              </a:tr>
              <a:tr h="277019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hinctnta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424141"/>
                  </a:ext>
                </a:extLst>
              </a:tr>
              <a:tr h="277019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netusoft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7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7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323605"/>
                  </a:ext>
                </a:extLst>
              </a:tr>
              <a:tr h="277019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GDP per capita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7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/>
                </a:tc>
                <a:extLst>
                  <a:ext uri="{0D108BD9-81ED-4DB2-BD59-A6C34878D82A}">
                    <a16:rowId xmlns:a16="http://schemas.microsoft.com/office/drawing/2014/main" val="361665648"/>
                  </a:ext>
                </a:extLst>
              </a:tr>
              <a:tr h="277019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agea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/>
                </a:tc>
                <a:extLst>
                  <a:ext uri="{0D108BD9-81ED-4DB2-BD59-A6C34878D82A}">
                    <a16:rowId xmlns:a16="http://schemas.microsoft.com/office/drawing/2014/main" val="3658037295"/>
                  </a:ext>
                </a:extLst>
              </a:tr>
              <a:tr h="277019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Gini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9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/>
                </a:tc>
                <a:extLst>
                  <a:ext uri="{0D108BD9-81ED-4DB2-BD59-A6C34878D82A}">
                    <a16:rowId xmlns:a16="http://schemas.microsoft.com/office/drawing/2014/main" val="3338594219"/>
                  </a:ext>
                </a:extLst>
              </a:tr>
              <a:tr h="277019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log_nwspol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10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10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8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/>
                </a:tc>
                <a:extLst>
                  <a:ext uri="{0D108BD9-81ED-4DB2-BD59-A6C34878D82A}">
                    <a16:rowId xmlns:a16="http://schemas.microsoft.com/office/drawing/2014/main" val="1108583720"/>
                  </a:ext>
                </a:extLst>
              </a:tr>
              <a:tr h="277019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Self-Enhancement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11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11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10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36959"/>
                  </a:ext>
                </a:extLst>
              </a:tr>
              <a:tr h="277019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log_netustm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12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12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11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215288"/>
                  </a:ext>
                </a:extLst>
              </a:tr>
              <a:tr h="277019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female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13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13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13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673924"/>
                  </a:ext>
                </a:extLst>
              </a:tr>
              <a:tr h="277019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Openness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14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14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>
                          <a:effectLst/>
                        </a:rPr>
                        <a:t>12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/>
                </a:tc>
                <a:extLst>
                  <a:ext uri="{0D108BD9-81ED-4DB2-BD59-A6C34878D82A}">
                    <a16:rowId xmlns:a16="http://schemas.microsoft.com/office/drawing/2014/main" val="1683533061"/>
                  </a:ext>
                </a:extLst>
              </a:tr>
              <a:tr h="277019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ru-RU" sz="1400" dirty="0" err="1">
                          <a:effectLst/>
                        </a:rPr>
                        <a:t>domicil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15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15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ru-RU" sz="1400" dirty="0">
                          <a:effectLst/>
                        </a:rPr>
                        <a:t>14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8023" marR="78023" marT="0" marB="0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817146"/>
                  </a:ext>
                </a:extLst>
              </a:tr>
            </a:tbl>
          </a:graphicData>
        </a:graphic>
      </p:graphicFrame>
      <p:sp>
        <p:nvSpPr>
          <p:cNvPr id="14" name="object 7">
            <a:extLst>
              <a:ext uri="{FF2B5EF4-FFF2-40B4-BE49-F238E27FC236}">
                <a16:creationId xmlns:a16="http://schemas.microsoft.com/office/drawing/2014/main" id="{DE7BADA9-8961-53F9-8081-162776722B4F}"/>
              </a:ext>
            </a:extLst>
          </p:cNvPr>
          <p:cNvSpPr txBox="1"/>
          <p:nvPr/>
        </p:nvSpPr>
        <p:spPr>
          <a:xfrm>
            <a:off x="1131214" y="520699"/>
            <a:ext cx="141986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000" dirty="0">
                <a:solidFill>
                  <a:srgbClr val="0D2C69"/>
                </a:solidFill>
                <a:latin typeface="Calibri"/>
                <a:cs typeface="Calibri"/>
              </a:rPr>
              <a:t>Анализ больших данных</a:t>
            </a:r>
            <a:endParaRPr lang="ru-RU" sz="1000" dirty="0">
              <a:latin typeface="Calibri"/>
              <a:cs typeface="Calibri"/>
            </a:endParaRPr>
          </a:p>
        </p:txBody>
      </p:sp>
      <p:sp>
        <p:nvSpPr>
          <p:cNvPr id="15" name="object 5">
            <a:extLst>
              <a:ext uri="{FF2B5EF4-FFF2-40B4-BE49-F238E27FC236}">
                <a16:creationId xmlns:a16="http://schemas.microsoft.com/office/drawing/2014/main" id="{CB1EAE55-335C-421D-0CCD-E5EF6110525D}"/>
              </a:ext>
            </a:extLst>
          </p:cNvPr>
          <p:cNvSpPr txBox="1"/>
          <p:nvPr/>
        </p:nvSpPr>
        <p:spPr>
          <a:xfrm>
            <a:off x="3436023" y="422626"/>
            <a:ext cx="211612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1000" spc="-10" dirty="0">
                <a:solidFill>
                  <a:srgbClr val="0D2C69"/>
                </a:solidFill>
                <a:latin typeface="Calibri"/>
                <a:cs typeface="Calibri"/>
              </a:rPr>
              <a:t>Ценности и личностные приоритеты граждан Европы: кросс-национальный анализ структуры базовых ценностей на данных </a:t>
            </a:r>
            <a:r>
              <a:rPr lang="en" sz="1000" spc="-10" dirty="0">
                <a:solidFill>
                  <a:srgbClr val="0D2C69"/>
                </a:solidFill>
                <a:latin typeface="Calibri"/>
                <a:cs typeface="Calibri"/>
              </a:rPr>
              <a:t>ESS</a:t>
            </a:r>
          </a:p>
        </p:txBody>
      </p:sp>
    </p:spTree>
    <p:extLst>
      <p:ext uri="{BB962C8B-B14F-4D97-AF65-F5344CB8AC3E}">
        <p14:creationId xmlns:p14="http://schemas.microsoft.com/office/powerpoint/2010/main" val="31799504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98632" y="503046"/>
            <a:ext cx="2844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0F2C69"/>
                </a:solidFill>
                <a:latin typeface="Calibri"/>
                <a:cs typeface="Calibri"/>
              </a:rPr>
              <a:t>12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3430" y="1415237"/>
            <a:ext cx="41522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ru-RU" sz="2400" dirty="0">
                <a:solidFill>
                  <a:srgbClr val="0E2C68"/>
                </a:solidFill>
                <a:latin typeface="Calibri"/>
                <a:cs typeface="Calibri"/>
              </a:rPr>
              <a:t>Заключение </a:t>
            </a:r>
            <a:endParaRPr lang="ru-RU" sz="24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47891" y="444499"/>
            <a:ext cx="175323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ru-RU" sz="1000" dirty="0">
                <a:solidFill>
                  <a:srgbClr val="0E2C68"/>
                </a:solidFill>
                <a:latin typeface="Calibri"/>
                <a:cs typeface="Calibri"/>
              </a:rPr>
              <a:t>Заключение</a:t>
            </a:r>
            <a:endParaRPr lang="ru-RU" sz="1000" dirty="0">
              <a:latin typeface="Calibri"/>
              <a:cs typeface="Calibri"/>
            </a:endParaRPr>
          </a:p>
        </p:txBody>
      </p:sp>
      <p:sp>
        <p:nvSpPr>
          <p:cNvPr id="33" name="object 7">
            <a:extLst>
              <a:ext uri="{FF2B5EF4-FFF2-40B4-BE49-F238E27FC236}">
                <a16:creationId xmlns:a16="http://schemas.microsoft.com/office/drawing/2014/main" id="{66E2CE07-6CAB-2FAA-18AB-44947CAEC491}"/>
              </a:ext>
            </a:extLst>
          </p:cNvPr>
          <p:cNvSpPr txBox="1"/>
          <p:nvPr/>
        </p:nvSpPr>
        <p:spPr>
          <a:xfrm>
            <a:off x="1131214" y="520699"/>
            <a:ext cx="141986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000" dirty="0">
                <a:solidFill>
                  <a:srgbClr val="0D2C69"/>
                </a:solidFill>
                <a:latin typeface="Calibri"/>
                <a:cs typeface="Calibri"/>
              </a:rPr>
              <a:t>Анализ больших данных</a:t>
            </a:r>
            <a:endParaRPr lang="ru-RU" sz="1000" dirty="0">
              <a:latin typeface="Calibri"/>
              <a:cs typeface="Calibri"/>
            </a:endParaRPr>
          </a:p>
        </p:txBody>
      </p:sp>
      <p:sp>
        <p:nvSpPr>
          <p:cNvPr id="34" name="object 5">
            <a:extLst>
              <a:ext uri="{FF2B5EF4-FFF2-40B4-BE49-F238E27FC236}">
                <a16:creationId xmlns:a16="http://schemas.microsoft.com/office/drawing/2014/main" id="{773029B1-CFCB-7840-6D03-0C774E4DD07C}"/>
              </a:ext>
            </a:extLst>
          </p:cNvPr>
          <p:cNvSpPr txBox="1"/>
          <p:nvPr/>
        </p:nvSpPr>
        <p:spPr>
          <a:xfrm>
            <a:off x="3436023" y="422626"/>
            <a:ext cx="211612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ru-RU" sz="1000" spc="-10" dirty="0">
                <a:solidFill>
                  <a:srgbClr val="0D2C69"/>
                </a:solidFill>
                <a:latin typeface="Calibri"/>
                <a:cs typeface="Calibri"/>
              </a:rPr>
              <a:t>Ценности и личностные приоритеты граждан Европы: кросс-национальный анализ структуры базовых ценностей на данных </a:t>
            </a:r>
            <a:r>
              <a:rPr lang="en" sz="1000" spc="-10" dirty="0">
                <a:solidFill>
                  <a:srgbClr val="0D2C69"/>
                </a:solidFill>
                <a:latin typeface="Calibri"/>
                <a:cs typeface="Calibri"/>
              </a:rPr>
              <a:t>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884A7-F6B2-9223-724C-9666D99EDD1B}"/>
              </a:ext>
            </a:extLst>
          </p:cNvPr>
          <p:cNvSpPr txBox="1"/>
          <p:nvPr/>
        </p:nvSpPr>
        <p:spPr>
          <a:xfrm>
            <a:off x="2857754" y="1981200"/>
            <a:ext cx="6476491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Цель исследования достигнута: определены индивидуальные и страновые факторы, связанные с генерализованным социальным доверием жителей Европы на данных </a:t>
            </a:r>
            <a:r>
              <a:rPr lang="en" sz="1600" dirty="0">
                <a:solidFill>
                  <a:srgbClr val="0E2C68"/>
                </a:solidFill>
                <a:latin typeface="Calibri"/>
                <a:cs typeface="Calibri"/>
              </a:rPr>
              <a:t>ESS Round 9 </a:t>
            </a: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с учётом вложенности индивидов в страны.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На страновом уровне главным фактором доверия оказался индекс восприятия коррупции </a:t>
            </a:r>
            <a:r>
              <a:rPr lang="en" sz="1600" dirty="0">
                <a:solidFill>
                  <a:srgbClr val="0E2C68"/>
                </a:solidFill>
                <a:latin typeface="Calibri"/>
                <a:cs typeface="Calibri"/>
              </a:rPr>
              <a:t>CPI: </a:t>
            </a: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чем выше качество институтов и ниже воспринимаемая коррупция, тем выше уровень социального доверия.</a:t>
            </a:r>
            <a:endParaRPr lang="en" sz="1600" dirty="0">
              <a:solidFill>
                <a:srgbClr val="0E2C68"/>
              </a:solidFill>
              <a:latin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На индивидуальном уровне доверие выше у респондентов с более высоким образованием, доходом, возрастом</a:t>
            </a:r>
            <a:r>
              <a:rPr lang="en-US" sz="1600" dirty="0">
                <a:solidFill>
                  <a:srgbClr val="0E2C68"/>
                </a:solidFill>
                <a:latin typeface="Calibri"/>
                <a:cs typeface="Calibri"/>
              </a:rPr>
              <a:t> </a:t>
            </a: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и большей частотой использования интернета.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Из ценностей Шварца значимыми предикторами доверия стали </a:t>
            </a:r>
            <a:r>
              <a:rPr lang="ru-RU" sz="1600" dirty="0" err="1">
                <a:solidFill>
                  <a:srgbClr val="0E2C68"/>
                </a:solidFill>
                <a:latin typeface="Calibri"/>
                <a:cs typeface="Calibri"/>
              </a:rPr>
              <a:t>самотрансценденция</a:t>
            </a: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 и сохранение традиций.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Результаты многоуровневой регрессии были подтверждены моделями машинного обучения: </a:t>
            </a:r>
            <a:r>
              <a:rPr lang="en" sz="1600" dirty="0" err="1">
                <a:solidFill>
                  <a:srgbClr val="0E2C68"/>
                </a:solidFill>
                <a:latin typeface="Calibri"/>
                <a:cs typeface="Calibri"/>
              </a:rPr>
              <a:t>XGBoost</a:t>
            </a: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 и </a:t>
            </a:r>
            <a:r>
              <a:rPr lang="en" sz="1600" dirty="0">
                <a:solidFill>
                  <a:srgbClr val="0E2C68"/>
                </a:solidFill>
                <a:latin typeface="Calibri"/>
                <a:cs typeface="Calibri"/>
              </a:rPr>
              <a:t>Random Forest</a:t>
            </a:r>
            <a:r>
              <a:rPr lang="ru-RU" sz="1600" dirty="0">
                <a:solidFill>
                  <a:srgbClr val="0E2C68"/>
                </a:solidFill>
                <a:latin typeface="Calibri"/>
                <a:cs typeface="Calibri"/>
              </a:rPr>
              <a:t> выделили схожую иерархию факторов.</a:t>
            </a:r>
          </a:p>
        </p:txBody>
      </p:sp>
    </p:spTree>
    <p:extLst>
      <p:ext uri="{BB962C8B-B14F-4D97-AF65-F5344CB8AC3E}">
        <p14:creationId xmlns:p14="http://schemas.microsoft.com/office/powerpoint/2010/main" val="3713686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E2C6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6350" y="-6350"/>
            <a:ext cx="12204700" cy="6870700"/>
            <a:chOff x="-6350" y="-6350"/>
            <a:chExt cx="12204700" cy="68707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8000"/>
                  </a:moveTo>
                  <a:lnTo>
                    <a:pt x="12192000" y="685800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12700">
              <a:solidFill>
                <a:srgbClr val="081D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10759" y="2643885"/>
              <a:ext cx="1570355" cy="15703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1769</TotalTime>
  <Words>1913</Words>
  <Application>Microsoft Macintosh PowerPoint</Application>
  <PresentationFormat>Широкоэкранный</PresentationFormat>
  <Paragraphs>472</Paragraphs>
  <Slides>20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9" baseType="lpstr">
      <vt:lpstr>Arial</vt:lpstr>
      <vt:lpstr>Arial MT</vt:lpstr>
      <vt:lpstr>Calibri</vt:lpstr>
      <vt:lpstr>Microsoft Sans Serif</vt:lpstr>
      <vt:lpstr>Tahoma</vt:lpstr>
      <vt:lpstr>Times New Roman</vt:lpstr>
      <vt:lpstr>Verdana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Даниил Дунаев</cp:lastModifiedBy>
  <cp:revision>10</cp:revision>
  <dcterms:created xsi:type="dcterms:W3CDTF">2026-05-03T10:44:31Z</dcterms:created>
  <dcterms:modified xsi:type="dcterms:W3CDTF">2026-05-04T22:27:45Z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2026-05-03T00:00:00Z</vt:filetime>
  </property>
  <property fmtid="{D5CDD505-2E9C-101B-9397-08002B2CF9AE}" pid="5" name="Producer">
    <vt:lpwstr>Microsoft® PowerPoint® 2019</vt:lpwstr>
  </property>
</Properties>
</file>